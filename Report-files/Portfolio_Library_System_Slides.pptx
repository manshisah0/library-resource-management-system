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58" r:id="rId4"/>
    <p:sldId id="259" r:id="rId5"/>
    <p:sldId id="267" r:id="rId6"/>
    <p:sldId id="261" r:id="rId7"/>
    <p:sldId id="260" r:id="rId8"/>
    <p:sldId id="262" r:id="rId9"/>
    <p:sldId id="263" r:id="rId10"/>
    <p:sldId id="264" r:id="rId11"/>
    <p:sldId id="265" r:id="rId12"/>
    <p:sldId id="266" r:id="rId13"/>
  </p:sldIdLst>
  <p:sldSz cx="12192000" cy="6858000"/>
  <p:notesSz cx="12192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5282F153-3F37-0F45-9E97-73ACFA13230C}" type="datetimeFigureOut">
              <a:rPr lang="en-US"/>
              <a:t>7/24/2026</a:t>
            </a:fld>
            <a:endParaRPr lang="en-US"/>
          </a:p>
        </p:txBody>
      </p:sp>
      <p:sp>
        <p:nvSpPr>
          <p:cNvPr id="4" name="Slide Image Placeholder 3"/>
          <p:cNvSpPr>
            <a:spLocks noGrp="1" noRot="1" noChangeAspect="1"/>
          </p:cNvSpPr>
          <p:nvPr>
            <p:ph type="sldImg" idx="2"/>
          </p:nvPr>
        </p:nvSpPr>
        <p:spPr>
          <a:xfrm>
            <a:off x="4552950"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52950" y="642938"/>
            <a:ext cx="3086100" cy="1736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B57"/>
        </a:solidFill>
        <a:effectLst/>
      </p:bgPr>
    </p:bg>
    <p:spTree>
      <p:nvGrpSpPr>
        <p:cNvPr id="1" name=""/>
        <p:cNvGrpSpPr/>
        <p:nvPr/>
      </p:nvGrpSpPr>
      <p:grpSpPr>
        <a:xfrm>
          <a:off x="0" y="0"/>
          <a:ext cx="0" cy="0"/>
          <a:chOff x="0" y="0"/>
          <a:chExt cx="0" cy="0"/>
        </a:xfrm>
      </p:grpSpPr>
      <p:sp>
        <p:nvSpPr>
          <p:cNvPr id="2" name="Text 0"/>
          <p:cNvSpPr/>
          <p:nvPr/>
        </p:nvSpPr>
        <p:spPr>
          <a:xfrm>
            <a:off x="731520" y="1463040"/>
            <a:ext cx="10698480" cy="2011680"/>
          </a:xfrm>
          <a:prstGeom prst="rect">
            <a:avLst/>
          </a:prstGeom>
          <a:noFill/>
        </p:spPr>
        <p:txBody>
          <a:bodyPr wrap="square" rtlCol="0" anchor="ctr"/>
          <a:lstStyle/>
          <a:p>
            <a:pPr marL="0" indent="0" algn="l">
              <a:lnSpc>
                <a:spcPct val="105000"/>
              </a:lnSpc>
              <a:buNone/>
            </a:pPr>
            <a:r>
              <a:rPr lang="en-US" sz="4000" b="1" dirty="0">
                <a:solidFill>
                  <a:srgbClr val="FFFFFF"/>
                </a:solidFill>
                <a:latin typeface="Calibri" pitchFamily="34" charset="0"/>
                <a:ea typeface="Calibri" pitchFamily="34" charset="-122"/>
                <a:cs typeface="Calibri" pitchFamily="34" charset="-120"/>
              </a:rPr>
              <a:t>Library Resource</a:t>
            </a:r>
            <a:endParaRPr lang="en-US" sz="4000" dirty="0"/>
          </a:p>
          <a:p>
            <a:pPr marL="0" indent="0" algn="l">
              <a:lnSpc>
                <a:spcPct val="105000"/>
              </a:lnSpc>
              <a:buNone/>
            </a:pPr>
            <a:r>
              <a:rPr lang="en-US" sz="4000" b="1" dirty="0">
                <a:solidFill>
                  <a:srgbClr val="FFFFFF"/>
                </a:solidFill>
                <a:latin typeface="Calibri" pitchFamily="34" charset="0"/>
                <a:ea typeface="Calibri" pitchFamily="34" charset="-122"/>
                <a:cs typeface="Calibri" pitchFamily="34" charset="-120"/>
              </a:rPr>
              <a:t>Management System</a:t>
            </a:r>
            <a:endParaRPr lang="en-US" sz="4000" dirty="0"/>
          </a:p>
        </p:txBody>
      </p:sp>
      <p:sp>
        <p:nvSpPr>
          <p:cNvPr id="3" name="Text 1"/>
          <p:cNvSpPr/>
          <p:nvPr/>
        </p:nvSpPr>
        <p:spPr>
          <a:xfrm>
            <a:off x="731520" y="3566160"/>
            <a:ext cx="10698480" cy="457200"/>
          </a:xfrm>
          <a:prstGeom prst="rect">
            <a:avLst/>
          </a:prstGeom>
          <a:noFill/>
        </p:spPr>
        <p:txBody>
          <a:bodyPr wrap="square" rtlCol="0" anchor="ctr"/>
          <a:lstStyle/>
          <a:p>
            <a:pPr marL="0" indent="0">
              <a:buNone/>
            </a:pPr>
            <a:r>
              <a:rPr lang="en-US" sz="1800" dirty="0">
                <a:solidFill>
                  <a:srgbClr val="AFC7DE"/>
                </a:solidFill>
                <a:latin typeface="Calibri" pitchFamily="34" charset="0"/>
                <a:ea typeface="Calibri" pitchFamily="34" charset="-122"/>
                <a:cs typeface="Calibri" pitchFamily="34" charset="-120"/>
              </a:rPr>
              <a:t>Fundamentals of Data Science — Portfolio Assessment</a:t>
            </a:r>
            <a:endParaRPr lang="en-US" sz="1800" dirty="0"/>
          </a:p>
        </p:txBody>
      </p:sp>
      <p:sp>
        <p:nvSpPr>
          <p:cNvPr id="4" name="Text 2"/>
          <p:cNvSpPr/>
          <p:nvPr/>
        </p:nvSpPr>
        <p:spPr>
          <a:xfrm>
            <a:off x="731520" y="5852160"/>
            <a:ext cx="10698480" cy="457200"/>
          </a:xfrm>
          <a:prstGeom prst="rect">
            <a:avLst/>
          </a:prstGeom>
          <a:noFill/>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Presented by:   Manshi Sah   ·   Sumant Sah   ·   Aman Mahato</a:t>
            </a:r>
            <a:endParaRPr lang="en-US" sz="1600" dirty="0"/>
          </a:p>
        </p:txBody>
      </p:sp>
      <p:sp>
        <p:nvSpPr>
          <p:cNvPr id="7" name="Text Box 6"/>
          <p:cNvSpPr txBox="1"/>
          <p:nvPr/>
        </p:nvSpPr>
        <p:spPr>
          <a:xfrm>
            <a:off x="5060950" y="6213475"/>
            <a:ext cx="4064000" cy="368300"/>
          </a:xfrm>
          <a:prstGeom prst="rect">
            <a:avLst/>
          </a:prstGeom>
          <a:noFill/>
        </p:spPr>
        <p:txBody>
          <a:bodyPr wrap="squar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p:spPr>
        <p:txBody>
          <a:bodyPr wrap="square" rtlCol="0" anchor="ctr"/>
          <a:lstStyle/>
          <a:p>
            <a:pPr marL="0" indent="0">
              <a:buNone/>
            </a:pPr>
            <a:r>
              <a:rPr lang="en-US" sz="3000" b="1" dirty="0">
                <a:solidFill>
                  <a:srgbClr val="1F3B57"/>
                </a:solidFill>
                <a:latin typeface="Calibri" pitchFamily="34" charset="0"/>
                <a:ea typeface="Calibri" pitchFamily="34" charset="-122"/>
                <a:cs typeface="Calibri" pitchFamily="34" charset="-120"/>
              </a:rPr>
              <a:t>Project Objectives</a:t>
            </a:r>
            <a:endParaRPr lang="en-US" sz="3000" dirty="0"/>
          </a:p>
        </p:txBody>
      </p:sp>
      <p:sp>
        <p:nvSpPr>
          <p:cNvPr id="3" name="Shape 1"/>
          <p:cNvSpPr/>
          <p:nvPr/>
        </p:nvSpPr>
        <p:spPr>
          <a:xfrm>
            <a:off x="640080" y="1554480"/>
            <a:ext cx="128016" cy="822960"/>
          </a:xfrm>
          <a:prstGeom prst="roundRect">
            <a:avLst>
              <a:gd name="adj" fmla="val 35714"/>
            </a:avLst>
          </a:prstGeom>
          <a:solidFill>
            <a:srgbClr val="C97A2B"/>
          </a:solidFill>
        </p:spPr>
      </p:sp>
      <p:sp>
        <p:nvSpPr>
          <p:cNvPr id="4" name="Text 2"/>
          <p:cNvSpPr/>
          <p:nvPr/>
        </p:nvSpPr>
        <p:spPr>
          <a:xfrm>
            <a:off x="960120" y="1554480"/>
            <a:ext cx="3291840" cy="822960"/>
          </a:xfrm>
          <a:prstGeom prst="rect">
            <a:avLst/>
          </a:prstGeom>
          <a:noFill/>
        </p:spPr>
        <p:txBody>
          <a:bodyPr wrap="square" rtlCol="0" anchor="ctr"/>
          <a:lstStyle/>
          <a:p>
            <a:pPr marL="0" indent="0">
              <a:buNone/>
            </a:pPr>
            <a:r>
              <a:rPr lang="en-US" sz="1600" b="1" dirty="0">
                <a:solidFill>
                  <a:srgbClr val="1F3B57"/>
                </a:solidFill>
                <a:latin typeface="Calibri" pitchFamily="34" charset="0"/>
                <a:ea typeface="Calibri" pitchFamily="34" charset="-122"/>
                <a:cs typeface="Calibri" pitchFamily="34" charset="-120"/>
                <a:sym typeface="+mn-ea"/>
              </a:rPr>
              <a:t>Data Storage</a:t>
            </a:r>
            <a:endParaRPr lang="en-US" altLang="en-US" sz="1600" dirty="0"/>
          </a:p>
        </p:txBody>
      </p:sp>
      <p:sp>
        <p:nvSpPr>
          <p:cNvPr id="5" name="Text 3"/>
          <p:cNvSpPr/>
          <p:nvPr/>
        </p:nvSpPr>
        <p:spPr>
          <a:xfrm>
            <a:off x="4389120" y="1554480"/>
            <a:ext cx="6949440" cy="822960"/>
          </a:xfrm>
          <a:prstGeom prst="rect">
            <a:avLst/>
          </a:prstGeom>
          <a:noFill/>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Books, members, loans, and passwords stored in four plain text files.</a:t>
            </a:r>
            <a:endParaRPr lang="en-US" sz="1400" dirty="0"/>
          </a:p>
        </p:txBody>
      </p:sp>
      <p:sp>
        <p:nvSpPr>
          <p:cNvPr id="6" name="Shape 4"/>
          <p:cNvSpPr/>
          <p:nvPr/>
        </p:nvSpPr>
        <p:spPr>
          <a:xfrm>
            <a:off x="640080" y="2487168"/>
            <a:ext cx="128016" cy="822960"/>
          </a:xfrm>
          <a:prstGeom prst="roundRect">
            <a:avLst>
              <a:gd name="adj" fmla="val 35714"/>
            </a:avLst>
          </a:prstGeom>
          <a:solidFill>
            <a:srgbClr val="C97A2B"/>
          </a:solidFill>
        </p:spPr>
      </p:sp>
      <p:sp>
        <p:nvSpPr>
          <p:cNvPr id="7" name="Text 5"/>
          <p:cNvSpPr/>
          <p:nvPr/>
        </p:nvSpPr>
        <p:spPr>
          <a:xfrm>
            <a:off x="960120" y="2487168"/>
            <a:ext cx="3291840" cy="822960"/>
          </a:xfrm>
          <a:prstGeom prst="rect">
            <a:avLst/>
          </a:prstGeom>
          <a:noFill/>
        </p:spPr>
        <p:txBody>
          <a:bodyPr wrap="square" rtlCol="0" anchor="ctr"/>
          <a:lstStyle/>
          <a:p>
            <a:pPr marL="0" indent="0">
              <a:buNone/>
            </a:pPr>
            <a:r>
              <a:rPr lang="en-US" sz="1600" b="1" dirty="0">
                <a:solidFill>
                  <a:srgbClr val="1F3B57"/>
                </a:solidFill>
                <a:latin typeface="Calibri" pitchFamily="34" charset="0"/>
                <a:ea typeface="Calibri" pitchFamily="34" charset="-122"/>
                <a:cs typeface="Calibri" pitchFamily="34" charset="-120"/>
              </a:rPr>
              <a:t>Librarian role</a:t>
            </a:r>
            <a:endParaRPr lang="en-US" sz="1600" dirty="0"/>
          </a:p>
        </p:txBody>
      </p:sp>
      <p:sp>
        <p:nvSpPr>
          <p:cNvPr id="8" name="Text 6"/>
          <p:cNvSpPr/>
          <p:nvPr/>
        </p:nvSpPr>
        <p:spPr>
          <a:xfrm>
            <a:off x="4389120" y="2487168"/>
            <a:ext cx="6949440" cy="822960"/>
          </a:xfrm>
          <a:prstGeom prst="rect">
            <a:avLst/>
          </a:prstGeom>
          <a:noFill/>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Add / remove books, update member records, generate an overdue report.</a:t>
            </a:r>
            <a:endParaRPr lang="en-US" sz="1400" dirty="0"/>
          </a:p>
        </p:txBody>
      </p:sp>
      <p:sp>
        <p:nvSpPr>
          <p:cNvPr id="9" name="Shape 7"/>
          <p:cNvSpPr/>
          <p:nvPr/>
        </p:nvSpPr>
        <p:spPr>
          <a:xfrm>
            <a:off x="640080" y="3419856"/>
            <a:ext cx="128016" cy="822960"/>
          </a:xfrm>
          <a:prstGeom prst="roundRect">
            <a:avLst>
              <a:gd name="adj" fmla="val 35714"/>
            </a:avLst>
          </a:prstGeom>
          <a:solidFill>
            <a:srgbClr val="C97A2B"/>
          </a:solidFill>
        </p:spPr>
      </p:sp>
      <p:sp>
        <p:nvSpPr>
          <p:cNvPr id="10" name="Text 8"/>
          <p:cNvSpPr/>
          <p:nvPr/>
        </p:nvSpPr>
        <p:spPr>
          <a:xfrm>
            <a:off x="960120" y="3419856"/>
            <a:ext cx="3291840" cy="822960"/>
          </a:xfrm>
          <a:prstGeom prst="rect">
            <a:avLst/>
          </a:prstGeom>
          <a:noFill/>
        </p:spPr>
        <p:txBody>
          <a:bodyPr wrap="square" rtlCol="0" anchor="ctr"/>
          <a:lstStyle/>
          <a:p>
            <a:pPr marL="0" indent="0">
              <a:buNone/>
            </a:pPr>
            <a:r>
              <a:rPr lang="en-US" sz="1600" b="1" dirty="0">
                <a:solidFill>
                  <a:srgbClr val="1F3B57"/>
                </a:solidFill>
                <a:latin typeface="Calibri" pitchFamily="34" charset="0"/>
                <a:ea typeface="Calibri" pitchFamily="34" charset="-122"/>
                <a:cs typeface="Calibri" pitchFamily="34" charset="-120"/>
              </a:rPr>
              <a:t>Student role</a:t>
            </a:r>
            <a:endParaRPr lang="en-US" sz="1600" dirty="0"/>
          </a:p>
        </p:txBody>
      </p:sp>
      <p:sp>
        <p:nvSpPr>
          <p:cNvPr id="11" name="Text 9"/>
          <p:cNvSpPr/>
          <p:nvPr/>
        </p:nvSpPr>
        <p:spPr>
          <a:xfrm>
            <a:off x="4389120" y="3419856"/>
            <a:ext cx="6949440" cy="822960"/>
          </a:xfrm>
          <a:prstGeom prst="rect">
            <a:avLst/>
          </a:prstGeom>
          <a:noFill/>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Search the catalogue, view personal loans, update profile.</a:t>
            </a:r>
            <a:endParaRPr lang="en-US" sz="1400" dirty="0"/>
          </a:p>
        </p:txBody>
      </p:sp>
      <p:sp>
        <p:nvSpPr>
          <p:cNvPr id="12" name="Shape 10"/>
          <p:cNvSpPr/>
          <p:nvPr/>
        </p:nvSpPr>
        <p:spPr>
          <a:xfrm>
            <a:off x="640080" y="4352544"/>
            <a:ext cx="128016" cy="822960"/>
          </a:xfrm>
          <a:prstGeom prst="roundRect">
            <a:avLst>
              <a:gd name="adj" fmla="val 35714"/>
            </a:avLst>
          </a:prstGeom>
          <a:solidFill>
            <a:srgbClr val="C97A2B"/>
          </a:solidFill>
        </p:spPr>
      </p:sp>
      <p:sp>
        <p:nvSpPr>
          <p:cNvPr id="13" name="Text 11"/>
          <p:cNvSpPr/>
          <p:nvPr/>
        </p:nvSpPr>
        <p:spPr>
          <a:xfrm>
            <a:off x="960120" y="4352544"/>
            <a:ext cx="3291840" cy="822960"/>
          </a:xfrm>
          <a:prstGeom prst="rect">
            <a:avLst/>
          </a:prstGeom>
          <a:noFill/>
        </p:spPr>
        <p:txBody>
          <a:bodyPr wrap="square" rtlCol="0" anchor="ctr"/>
          <a:lstStyle/>
          <a:p>
            <a:pPr marL="0" indent="0">
              <a:buNone/>
            </a:pPr>
            <a:r>
              <a:rPr lang="en-US" sz="1600" b="1" dirty="0">
                <a:solidFill>
                  <a:srgbClr val="1F3B57"/>
                </a:solidFill>
                <a:latin typeface="Calibri" pitchFamily="34" charset="0"/>
                <a:ea typeface="Calibri" pitchFamily="34" charset="-122"/>
                <a:cs typeface="Calibri" pitchFamily="34" charset="-120"/>
              </a:rPr>
              <a:t>Object-oriented design</a:t>
            </a:r>
            <a:endParaRPr lang="en-US" sz="1600" dirty="0"/>
          </a:p>
        </p:txBody>
      </p:sp>
      <p:sp>
        <p:nvSpPr>
          <p:cNvPr id="14" name="Text 12"/>
          <p:cNvSpPr/>
          <p:nvPr/>
        </p:nvSpPr>
        <p:spPr>
          <a:xfrm>
            <a:off x="4389120" y="4352544"/>
            <a:ext cx="6949440" cy="822960"/>
          </a:xfrm>
          <a:prstGeom prst="rect">
            <a:avLst/>
          </a:prstGeom>
          <a:noFill/>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 shared User class with Librarian and Student subclasses.</a:t>
            </a:r>
            <a:endParaRPr lang="en-US" sz="1400" dirty="0"/>
          </a:p>
        </p:txBody>
      </p:sp>
      <p:sp>
        <p:nvSpPr>
          <p:cNvPr id="15" name="Shape 13"/>
          <p:cNvSpPr/>
          <p:nvPr/>
        </p:nvSpPr>
        <p:spPr>
          <a:xfrm>
            <a:off x="640080" y="5285232"/>
            <a:ext cx="128016" cy="822960"/>
          </a:xfrm>
          <a:prstGeom prst="roundRect">
            <a:avLst>
              <a:gd name="adj" fmla="val 35714"/>
            </a:avLst>
          </a:prstGeom>
          <a:solidFill>
            <a:srgbClr val="C97A2B"/>
          </a:solidFill>
        </p:spPr>
      </p:sp>
      <p:sp>
        <p:nvSpPr>
          <p:cNvPr id="16" name="Text 14"/>
          <p:cNvSpPr/>
          <p:nvPr/>
        </p:nvSpPr>
        <p:spPr>
          <a:xfrm>
            <a:off x="960120" y="5285232"/>
            <a:ext cx="3291840" cy="822960"/>
          </a:xfrm>
          <a:prstGeom prst="rect">
            <a:avLst/>
          </a:prstGeom>
          <a:noFill/>
        </p:spPr>
        <p:txBody>
          <a:bodyPr wrap="square" rtlCol="0" anchor="ctr"/>
          <a:lstStyle/>
          <a:p>
            <a:pPr marL="0" indent="0">
              <a:buNone/>
            </a:pPr>
            <a:r>
              <a:rPr lang="en-US" sz="1600" b="1" dirty="0">
                <a:solidFill>
                  <a:srgbClr val="1F3B57"/>
                </a:solidFill>
                <a:latin typeface="Calibri" pitchFamily="34" charset="0"/>
                <a:ea typeface="Calibri" pitchFamily="34" charset="-122"/>
                <a:cs typeface="Calibri" pitchFamily="34" charset="-120"/>
              </a:rPr>
              <a:t>Error handling</a:t>
            </a:r>
            <a:endParaRPr lang="en-US" sz="1600" dirty="0"/>
          </a:p>
        </p:txBody>
      </p:sp>
      <p:sp>
        <p:nvSpPr>
          <p:cNvPr id="17" name="Text 15"/>
          <p:cNvSpPr/>
          <p:nvPr/>
        </p:nvSpPr>
        <p:spPr>
          <a:xfrm>
            <a:off x="4389120" y="5285232"/>
            <a:ext cx="6949440" cy="822960"/>
          </a:xfrm>
          <a:prstGeom prst="rect">
            <a:avLst/>
          </a:prstGeom>
          <a:noFill/>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Try/except throughout so bad input never crashes the program.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p:spPr>
        <p:txBody>
          <a:bodyPr wrap="square" rtlCol="0" anchor="ctr"/>
          <a:lstStyle/>
          <a:p>
            <a:pPr marL="0" indent="0">
              <a:buNone/>
            </a:pPr>
            <a:r>
              <a:rPr lang="en-US" sz="3000" b="1" dirty="0">
                <a:solidFill>
                  <a:srgbClr val="1F3B57"/>
                </a:solidFill>
                <a:latin typeface="Calibri" pitchFamily="34" charset="0"/>
                <a:ea typeface="Calibri" pitchFamily="34" charset="-122"/>
                <a:cs typeface="Calibri" pitchFamily="34" charset="-120"/>
              </a:rPr>
              <a:t>System Design</a:t>
            </a:r>
            <a:endParaRPr lang="en-US" sz="3000" dirty="0"/>
          </a:p>
        </p:txBody>
      </p:sp>
      <p:sp>
        <p:nvSpPr>
          <p:cNvPr id="3" name="Shape 1"/>
          <p:cNvSpPr/>
          <p:nvPr/>
        </p:nvSpPr>
        <p:spPr>
          <a:xfrm>
            <a:off x="640080" y="1463040"/>
            <a:ext cx="5212080" cy="4754880"/>
          </a:xfrm>
          <a:prstGeom prst="roundRect">
            <a:avLst>
              <a:gd name="adj" fmla="val 1538"/>
            </a:avLst>
          </a:prstGeom>
          <a:solidFill>
            <a:srgbClr val="EAF2FB"/>
          </a:solidFill>
        </p:spPr>
      </p:sp>
      <p:sp>
        <p:nvSpPr>
          <p:cNvPr id="4" name="Text 2"/>
          <p:cNvSpPr/>
          <p:nvPr/>
        </p:nvSpPr>
        <p:spPr>
          <a:xfrm>
            <a:off x="914400" y="1691640"/>
            <a:ext cx="4663440" cy="457200"/>
          </a:xfrm>
          <a:prstGeom prst="rect">
            <a:avLst/>
          </a:prstGeom>
          <a:noFill/>
        </p:spPr>
        <p:txBody>
          <a:bodyPr wrap="square" rtlCol="0" anchor="ctr"/>
          <a:lstStyle/>
          <a:p>
            <a:pPr marL="0" indent="0">
              <a:buNone/>
            </a:pPr>
            <a:r>
              <a:rPr lang="en-US" sz="1800" b="1" dirty="0">
                <a:solidFill>
                  <a:srgbClr val="1F3B57"/>
                </a:solidFill>
                <a:latin typeface="Calibri" pitchFamily="34" charset="0"/>
                <a:ea typeface="Calibri" pitchFamily="34" charset="-122"/>
                <a:cs typeface="Calibri" pitchFamily="34" charset="-120"/>
              </a:rPr>
              <a:t>Data Storage</a:t>
            </a:r>
            <a:endParaRPr lang="en-US" sz="1800" dirty="0"/>
          </a:p>
        </p:txBody>
      </p:sp>
      <p:sp>
        <p:nvSpPr>
          <p:cNvPr id="5" name="Text 3"/>
          <p:cNvSpPr/>
          <p:nvPr/>
        </p:nvSpPr>
        <p:spPr>
          <a:xfrm>
            <a:off x="914400" y="2286000"/>
            <a:ext cx="4663440" cy="548640"/>
          </a:xfrm>
          <a:prstGeom prst="rect">
            <a:avLst/>
          </a:prstGeom>
          <a:noFill/>
        </p:spPr>
        <p:txBody>
          <a:bodyPr wrap="square" rtlCol="0" anchor="t"/>
          <a:lstStyle/>
          <a:p>
            <a:pPr marL="0" indent="0">
              <a:buNone/>
            </a:pPr>
            <a:r>
              <a:rPr lang="en-US" sz="1250" b="1" dirty="0">
                <a:solidFill>
                  <a:srgbClr val="2C5F8A"/>
                </a:solidFill>
                <a:latin typeface="Consolas" pitchFamily="34" charset="0"/>
                <a:ea typeface="Consolas" pitchFamily="34" charset="-122"/>
                <a:cs typeface="Consolas" pitchFamily="34" charset="-120"/>
              </a:rPr>
              <a:t>books.txt  </a:t>
            </a:r>
            <a:r>
              <a:rPr lang="en-US" sz="1250" dirty="0">
                <a:solidFill>
                  <a:srgbClr val="555555"/>
                </a:solidFill>
                <a:latin typeface="Consolas" pitchFamily="34" charset="0"/>
                <a:ea typeface="Consolas" pitchFamily="34" charset="-122"/>
                <a:cs typeface="Consolas" pitchFamily="34" charset="-120"/>
              </a:rPr>
              <a:t>isbn, title, author, available</a:t>
            </a:r>
            <a:endParaRPr lang="en-US" sz="1250" dirty="0"/>
          </a:p>
        </p:txBody>
      </p:sp>
      <p:sp>
        <p:nvSpPr>
          <p:cNvPr id="6" name="Text 4"/>
          <p:cNvSpPr/>
          <p:nvPr/>
        </p:nvSpPr>
        <p:spPr>
          <a:xfrm>
            <a:off x="914400" y="2971800"/>
            <a:ext cx="4663440" cy="548640"/>
          </a:xfrm>
          <a:prstGeom prst="rect">
            <a:avLst/>
          </a:prstGeom>
          <a:noFill/>
        </p:spPr>
        <p:txBody>
          <a:bodyPr wrap="square" rtlCol="0" anchor="t"/>
          <a:lstStyle/>
          <a:p>
            <a:pPr marL="0" indent="0">
              <a:buNone/>
            </a:pPr>
            <a:r>
              <a:rPr lang="en-US" sz="1250" b="1" dirty="0">
                <a:solidFill>
                  <a:srgbClr val="2C5F8A"/>
                </a:solidFill>
                <a:latin typeface="Consolas" pitchFamily="34" charset="0"/>
                <a:ea typeface="Consolas" pitchFamily="34" charset="-122"/>
                <a:cs typeface="Consolas" pitchFamily="34" charset="-120"/>
              </a:rPr>
              <a:t>members.txt  </a:t>
            </a:r>
            <a:r>
              <a:rPr lang="en-US" sz="1250" dirty="0">
                <a:solidFill>
                  <a:srgbClr val="555555"/>
                </a:solidFill>
                <a:latin typeface="Consolas" pitchFamily="34" charset="0"/>
                <a:ea typeface="Consolas" pitchFamily="34" charset="-122"/>
                <a:cs typeface="Consolas" pitchFamily="34" charset="-120"/>
              </a:rPr>
              <a:t>username, full_name, role</a:t>
            </a:r>
            <a:endParaRPr lang="en-US" sz="1250" dirty="0"/>
          </a:p>
        </p:txBody>
      </p:sp>
      <p:sp>
        <p:nvSpPr>
          <p:cNvPr id="7" name="Text 5"/>
          <p:cNvSpPr/>
          <p:nvPr/>
        </p:nvSpPr>
        <p:spPr>
          <a:xfrm>
            <a:off x="914400" y="3657600"/>
            <a:ext cx="4663440" cy="548640"/>
          </a:xfrm>
          <a:prstGeom prst="rect">
            <a:avLst/>
          </a:prstGeom>
          <a:noFill/>
        </p:spPr>
        <p:txBody>
          <a:bodyPr wrap="square" rtlCol="0" anchor="t"/>
          <a:lstStyle/>
          <a:p>
            <a:pPr marL="0" indent="0">
              <a:buNone/>
            </a:pPr>
            <a:r>
              <a:rPr lang="en-US" sz="1250" b="1" dirty="0">
                <a:solidFill>
                  <a:srgbClr val="2C5F8A"/>
                </a:solidFill>
                <a:latin typeface="Consolas" pitchFamily="34" charset="0"/>
                <a:ea typeface="Consolas" pitchFamily="34" charset="-122"/>
                <a:cs typeface="Consolas" pitchFamily="34" charset="-120"/>
              </a:rPr>
              <a:t>loans.txt  </a:t>
            </a:r>
            <a:r>
              <a:rPr lang="en-US" sz="1250" dirty="0">
                <a:solidFill>
                  <a:srgbClr val="555555"/>
                </a:solidFill>
                <a:latin typeface="Consolas" pitchFamily="34" charset="0"/>
                <a:ea typeface="Consolas" pitchFamily="34" charset="-122"/>
                <a:cs typeface="Consolas" pitchFamily="34" charset="-120"/>
              </a:rPr>
              <a:t>isbn, username, borrow_date, due_date, returned</a:t>
            </a:r>
            <a:endParaRPr lang="en-US" sz="1250" dirty="0"/>
          </a:p>
        </p:txBody>
      </p:sp>
      <p:sp>
        <p:nvSpPr>
          <p:cNvPr id="8" name="Text 6"/>
          <p:cNvSpPr/>
          <p:nvPr/>
        </p:nvSpPr>
        <p:spPr>
          <a:xfrm>
            <a:off x="914400" y="4343400"/>
            <a:ext cx="4663440" cy="548640"/>
          </a:xfrm>
          <a:prstGeom prst="rect">
            <a:avLst/>
          </a:prstGeom>
          <a:noFill/>
        </p:spPr>
        <p:txBody>
          <a:bodyPr wrap="square" rtlCol="0" anchor="t"/>
          <a:lstStyle/>
          <a:p>
            <a:pPr marL="0" indent="0">
              <a:buNone/>
            </a:pPr>
            <a:r>
              <a:rPr lang="en-US" sz="1250" b="1" dirty="0">
                <a:solidFill>
                  <a:srgbClr val="2C5F8A"/>
                </a:solidFill>
                <a:latin typeface="Consolas" pitchFamily="34" charset="0"/>
                <a:ea typeface="Consolas" pitchFamily="34" charset="-122"/>
                <a:cs typeface="Consolas" pitchFamily="34" charset="-120"/>
              </a:rPr>
              <a:t>passwords.txt  </a:t>
            </a:r>
            <a:r>
              <a:rPr lang="en-US" sz="1250" dirty="0">
                <a:solidFill>
                  <a:srgbClr val="555555"/>
                </a:solidFill>
                <a:latin typeface="Consolas" pitchFamily="34" charset="0"/>
                <a:ea typeface="Consolas" pitchFamily="34" charset="-122"/>
                <a:cs typeface="Consolas" pitchFamily="34" charset="-120"/>
              </a:rPr>
              <a:t>username, password</a:t>
            </a:r>
            <a:endParaRPr lang="en-US" sz="1250" dirty="0"/>
          </a:p>
        </p:txBody>
      </p:sp>
      <p:sp>
        <p:nvSpPr>
          <p:cNvPr id="9" name="Shape 7"/>
          <p:cNvSpPr/>
          <p:nvPr/>
        </p:nvSpPr>
        <p:spPr>
          <a:xfrm>
            <a:off x="6126480" y="1463040"/>
            <a:ext cx="5394960" cy="4754880"/>
          </a:xfrm>
          <a:prstGeom prst="roundRect">
            <a:avLst>
              <a:gd name="adj" fmla="val 1538"/>
            </a:avLst>
          </a:prstGeom>
          <a:solidFill>
            <a:srgbClr val="EAF2FB"/>
          </a:solidFill>
        </p:spPr>
      </p:sp>
      <p:sp>
        <p:nvSpPr>
          <p:cNvPr id="10" name="Text 8"/>
          <p:cNvSpPr/>
          <p:nvPr/>
        </p:nvSpPr>
        <p:spPr>
          <a:xfrm>
            <a:off x="6400800" y="1691640"/>
            <a:ext cx="4846320" cy="457200"/>
          </a:xfrm>
          <a:prstGeom prst="rect">
            <a:avLst/>
          </a:prstGeom>
          <a:noFill/>
        </p:spPr>
        <p:txBody>
          <a:bodyPr wrap="square" rtlCol="0" anchor="ctr"/>
          <a:lstStyle/>
          <a:p>
            <a:pPr marL="0" indent="0">
              <a:buNone/>
            </a:pPr>
            <a:r>
              <a:rPr lang="en-US" sz="1800" b="1" dirty="0">
                <a:solidFill>
                  <a:srgbClr val="1F3B57"/>
                </a:solidFill>
                <a:latin typeface="Calibri" pitchFamily="34" charset="0"/>
                <a:ea typeface="Calibri" pitchFamily="34" charset="-122"/>
                <a:cs typeface="Calibri" pitchFamily="34" charset="-120"/>
              </a:rPr>
              <a:t>Class Hierarchy (OOP)</a:t>
            </a:r>
            <a:endParaRPr lang="en-US" sz="1800" dirty="0"/>
          </a:p>
        </p:txBody>
      </p:sp>
      <p:sp>
        <p:nvSpPr>
          <p:cNvPr id="11" name="Shape 9"/>
          <p:cNvSpPr/>
          <p:nvPr/>
        </p:nvSpPr>
        <p:spPr>
          <a:xfrm>
            <a:off x="7818120" y="2377440"/>
            <a:ext cx="2286000" cy="640080"/>
          </a:xfrm>
          <a:prstGeom prst="roundRect">
            <a:avLst>
              <a:gd name="adj" fmla="val 11429"/>
            </a:avLst>
          </a:prstGeom>
          <a:solidFill>
            <a:srgbClr val="2C5F8A"/>
          </a:solidFill>
        </p:spPr>
      </p:sp>
      <p:sp>
        <p:nvSpPr>
          <p:cNvPr id="12" name="Text 10"/>
          <p:cNvSpPr/>
          <p:nvPr/>
        </p:nvSpPr>
        <p:spPr>
          <a:xfrm>
            <a:off x="7818120" y="2377440"/>
            <a:ext cx="2286000" cy="640080"/>
          </a:xfrm>
          <a:prstGeom prst="rect">
            <a:avLst/>
          </a:prstGeom>
          <a:noFill/>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User</a:t>
            </a:r>
            <a:endParaRPr lang="en-US" sz="1400" dirty="0"/>
          </a:p>
        </p:txBody>
      </p:sp>
      <p:sp>
        <p:nvSpPr>
          <p:cNvPr id="13" name="Shape 11"/>
          <p:cNvSpPr/>
          <p:nvPr/>
        </p:nvSpPr>
        <p:spPr>
          <a:xfrm>
            <a:off x="6492240" y="3657600"/>
            <a:ext cx="2286000" cy="822960"/>
          </a:xfrm>
          <a:prstGeom prst="roundRect">
            <a:avLst>
              <a:gd name="adj" fmla="val 8889"/>
            </a:avLst>
          </a:prstGeom>
          <a:solidFill>
            <a:srgbClr val="FFFFFF"/>
          </a:solidFill>
          <a:ln w="19050">
            <a:solidFill>
              <a:srgbClr val="2C5F8A"/>
            </a:solidFill>
            <a:prstDash val="solid"/>
          </a:ln>
        </p:spPr>
      </p:sp>
      <p:sp>
        <p:nvSpPr>
          <p:cNvPr id="14" name="Text 12"/>
          <p:cNvSpPr/>
          <p:nvPr/>
        </p:nvSpPr>
        <p:spPr>
          <a:xfrm>
            <a:off x="6492240" y="3703320"/>
            <a:ext cx="2286000" cy="365760"/>
          </a:xfrm>
          <a:prstGeom prst="rect">
            <a:avLst/>
          </a:prstGeom>
          <a:noFill/>
        </p:spPr>
        <p:txBody>
          <a:bodyPr wrap="square" rtlCol="0" anchor="ctr"/>
          <a:lstStyle/>
          <a:p>
            <a:pPr marL="0" indent="0" algn="ctr">
              <a:buNone/>
            </a:pPr>
            <a:r>
              <a:rPr lang="en-US" sz="1300" b="1" dirty="0">
                <a:solidFill>
                  <a:srgbClr val="1F3B57"/>
                </a:solidFill>
                <a:latin typeface="Calibri" pitchFamily="34" charset="0"/>
                <a:ea typeface="Calibri" pitchFamily="34" charset="-122"/>
                <a:cs typeface="Calibri" pitchFamily="34" charset="-120"/>
              </a:rPr>
              <a:t>Librarian</a:t>
            </a:r>
            <a:endParaRPr lang="en-US" sz="1300" dirty="0"/>
          </a:p>
        </p:txBody>
      </p:sp>
      <p:sp>
        <p:nvSpPr>
          <p:cNvPr id="15" name="Text 13"/>
          <p:cNvSpPr/>
          <p:nvPr/>
        </p:nvSpPr>
        <p:spPr>
          <a:xfrm>
            <a:off x="6492240" y="4041648"/>
            <a:ext cx="2286000" cy="365760"/>
          </a:xfrm>
          <a:prstGeom prst="rect">
            <a:avLst/>
          </a:prstGeom>
          <a:noFill/>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add/remove book, reports</a:t>
            </a:r>
            <a:endParaRPr lang="en-US" sz="950" dirty="0"/>
          </a:p>
        </p:txBody>
      </p:sp>
      <p:sp>
        <p:nvSpPr>
          <p:cNvPr id="16" name="Shape 14"/>
          <p:cNvSpPr/>
          <p:nvPr/>
        </p:nvSpPr>
        <p:spPr>
          <a:xfrm>
            <a:off x="9144000" y="3657600"/>
            <a:ext cx="2286000" cy="822960"/>
          </a:xfrm>
          <a:prstGeom prst="roundRect">
            <a:avLst>
              <a:gd name="adj" fmla="val 8889"/>
            </a:avLst>
          </a:prstGeom>
          <a:solidFill>
            <a:srgbClr val="FFFFFF"/>
          </a:solidFill>
          <a:ln w="19050">
            <a:solidFill>
              <a:srgbClr val="2C5F8A"/>
            </a:solidFill>
            <a:prstDash val="solid"/>
          </a:ln>
        </p:spPr>
      </p:sp>
      <p:sp>
        <p:nvSpPr>
          <p:cNvPr id="17" name="Text 15"/>
          <p:cNvSpPr/>
          <p:nvPr/>
        </p:nvSpPr>
        <p:spPr>
          <a:xfrm>
            <a:off x="9144000" y="3703320"/>
            <a:ext cx="2286000" cy="365760"/>
          </a:xfrm>
          <a:prstGeom prst="rect">
            <a:avLst/>
          </a:prstGeom>
          <a:noFill/>
        </p:spPr>
        <p:txBody>
          <a:bodyPr wrap="square" rtlCol="0" anchor="ctr"/>
          <a:lstStyle/>
          <a:p>
            <a:pPr marL="0" indent="0" algn="ctr">
              <a:buNone/>
            </a:pPr>
            <a:r>
              <a:rPr lang="en-US" sz="1300" b="1" dirty="0">
                <a:solidFill>
                  <a:srgbClr val="1F3B57"/>
                </a:solidFill>
                <a:latin typeface="Calibri" pitchFamily="34" charset="0"/>
                <a:ea typeface="Calibri" pitchFamily="34" charset="-122"/>
                <a:cs typeface="Calibri" pitchFamily="34" charset="-120"/>
              </a:rPr>
              <a:t>Student</a:t>
            </a:r>
            <a:endParaRPr lang="en-US" sz="1300" dirty="0"/>
          </a:p>
        </p:txBody>
      </p:sp>
      <p:sp>
        <p:nvSpPr>
          <p:cNvPr id="18" name="Text 16"/>
          <p:cNvSpPr/>
          <p:nvPr/>
        </p:nvSpPr>
        <p:spPr>
          <a:xfrm>
            <a:off x="9144000" y="4041648"/>
            <a:ext cx="2286000" cy="365760"/>
          </a:xfrm>
          <a:prstGeom prst="rect">
            <a:avLst/>
          </a:prstGeom>
          <a:noFill/>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search, loans, profile</a:t>
            </a:r>
            <a:endParaRPr lang="en-US" sz="950" dirty="0"/>
          </a:p>
        </p:txBody>
      </p:sp>
      <p:sp>
        <p:nvSpPr>
          <p:cNvPr id="19" name="Shape 17"/>
          <p:cNvSpPr/>
          <p:nvPr/>
        </p:nvSpPr>
        <p:spPr>
          <a:xfrm flipH="1">
            <a:off x="7635240" y="3017520"/>
            <a:ext cx="594360" cy="640080"/>
          </a:xfrm>
          <a:prstGeom prst="line">
            <a:avLst/>
          </a:prstGeom>
          <a:noFill/>
          <a:ln w="15240">
            <a:solidFill>
              <a:srgbClr val="555555"/>
            </a:solidFill>
            <a:prstDash val="solid"/>
          </a:ln>
        </p:spPr>
      </p:sp>
      <p:sp>
        <p:nvSpPr>
          <p:cNvPr id="20" name="Shape 18"/>
          <p:cNvSpPr/>
          <p:nvPr/>
        </p:nvSpPr>
        <p:spPr>
          <a:xfrm>
            <a:off x="8961120" y="3017520"/>
            <a:ext cx="1325880" cy="640080"/>
          </a:xfrm>
          <a:prstGeom prst="line">
            <a:avLst/>
          </a:prstGeom>
          <a:noFill/>
          <a:ln w="15240">
            <a:solidFill>
              <a:srgbClr val="555555"/>
            </a:solidFill>
            <a:prstDash val="solid"/>
          </a:ln>
        </p:spPr>
      </p:sp>
      <p:sp>
        <p:nvSpPr>
          <p:cNvPr id="21" name="Text 19"/>
          <p:cNvSpPr/>
          <p:nvPr/>
        </p:nvSpPr>
        <p:spPr>
          <a:xfrm>
            <a:off x="6400800" y="4754880"/>
            <a:ext cx="4846320" cy="1188720"/>
          </a:xfrm>
          <a:prstGeom prst="rect">
            <a:avLst/>
          </a:prstGeom>
          <a:noFill/>
        </p:spPr>
        <p:txBody>
          <a:bodyPr wrap="square"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Both subclasses inherit username, full_name, and role from User, and add their own methods.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640080"/>
          </a:xfrm>
          <a:prstGeom prst="rect">
            <a:avLst/>
          </a:prstGeom>
          <a:noFill/>
        </p:spPr>
        <p:txBody>
          <a:bodyPr wrap="square" rtlCol="0" anchor="ctr"/>
          <a:lstStyle/>
          <a:p>
            <a:pPr marL="0" indent="0">
              <a:buNone/>
            </a:pPr>
            <a:r>
              <a:rPr lang="en-US" sz="3000" b="1" dirty="0">
                <a:solidFill>
                  <a:srgbClr val="1F3B57"/>
                </a:solidFill>
                <a:latin typeface="Calibri" pitchFamily="34" charset="0"/>
                <a:ea typeface="Calibri" pitchFamily="34" charset="-122"/>
                <a:cs typeface="Calibri" pitchFamily="34" charset="-120"/>
              </a:rPr>
              <a:t>Program Flow</a:t>
            </a:r>
            <a:endParaRPr lang="en-US" sz="3000" dirty="0"/>
          </a:p>
        </p:txBody>
      </p:sp>
      <p:grpSp>
        <p:nvGrpSpPr>
          <p:cNvPr id="6" name="Group 1"/>
          <p:cNvGrpSpPr/>
          <p:nvPr/>
        </p:nvGrpSpPr>
        <p:grpSpPr>
          <a:xfrm>
            <a:off x="3943350" y="793115"/>
            <a:ext cx="4542790" cy="5793105"/>
            <a:chOff x="16352" y="571"/>
            <a:chExt cx="10728" cy="13680"/>
          </a:xfrm>
        </p:grpSpPr>
        <p:sp>
          <p:nvSpPr>
            <p:cNvPr id="101" name="Start"/>
            <p:cNvSpPr/>
            <p:nvPr/>
          </p:nvSpPr>
          <p:spPr>
            <a:xfrm>
              <a:off x="20528" y="571"/>
              <a:ext cx="2160" cy="720"/>
            </a:xfrm>
            <a:prstGeom prst="roundRect">
              <a:avLst/>
            </a:prstGeom>
            <a:solidFill>
              <a:srgbClr val="1F3864"/>
            </a:solidFill>
            <a:ln w="9525">
              <a:solidFill>
                <a:srgbClr val="1F3864"/>
              </a:solidFill>
            </a:ln>
          </p:spPr>
          <p:txBody>
            <a:bodyPr wrap="square" lIns="45720" tIns="27432" rIns="45720" bIns="27432" anchor="ctr" anchorCtr="1">
              <a:noAutofit/>
            </a:bodyPr>
            <a:lstStyle/>
            <a:p>
              <a:pPr algn="ctr">
                <a:lnSpc>
                  <a:spcPct val="100000"/>
                </a:lnSpc>
                <a:spcAft>
                  <a:spcPts val="0"/>
                </a:spcAft>
              </a:pPr>
              <a:r>
                <a:rPr lang="en-US" altLang="zh-CN" sz="1100" b="1" kern="100">
                  <a:solidFill>
                    <a:srgbClr val="FFFFFF"/>
                  </a:solidFill>
                  <a:latin typeface="Calibri"/>
                </a:rPr>
                <a:t>START</a:t>
              </a:r>
              <a:endParaRPr lang="en-US" altLang="zh-CN" sz="1050" kern="100"/>
            </a:p>
          </p:txBody>
        </p:sp>
        <p:sp>
          <p:nvSpPr>
            <p:cNvPr id="102" name="Login"/>
            <p:cNvSpPr/>
            <p:nvPr/>
          </p:nvSpPr>
          <p:spPr>
            <a:xfrm>
              <a:off x="19592" y="1723"/>
              <a:ext cx="4032" cy="1008"/>
            </a:xfrm>
            <a:prstGeom prst="rect">
              <a:avLst/>
            </a:prstGeom>
            <a:solidFill>
              <a:srgbClr val="DCE6F1"/>
            </a:solidFill>
            <a:ln w="9525">
              <a:solidFill>
                <a:srgbClr val="4472C4"/>
              </a:solidFill>
            </a:ln>
          </p:spPr>
          <p:txBody>
            <a:bodyPr wrap="square" lIns="45720" tIns="27432" rIns="45720" bIns="27432" anchor="ctr" anchorCtr="1">
              <a:noAutofit/>
            </a:bodyPr>
            <a:lstStyle/>
            <a:p>
              <a:pPr algn="ctr">
                <a:lnSpc>
                  <a:spcPct val="100000"/>
                </a:lnSpc>
                <a:spcAft>
                  <a:spcPts val="0"/>
                </a:spcAft>
              </a:pPr>
              <a:r>
                <a:rPr lang="en-US" altLang="zh-CN" sz="900" kern="100">
                  <a:solidFill>
                    <a:srgbClr val="1F1F1F"/>
                  </a:solidFill>
                  <a:latin typeface="Calibri"/>
                </a:rPr>
                <a:t>Login: enter username</a:t>
              </a:r>
              <a:endParaRPr lang="en-US" altLang="zh-CN" sz="1050" kern="100"/>
            </a:p>
            <a:p>
              <a:pPr algn="ctr">
                <a:lnSpc>
                  <a:spcPct val="100000"/>
                </a:lnSpc>
                <a:spcAft>
                  <a:spcPts val="0"/>
                </a:spcAft>
              </a:pPr>
              <a:r>
                <a:rPr lang="en-US" altLang="zh-CN" sz="900" kern="100">
                  <a:solidFill>
                    <a:srgbClr val="1F1F1F"/>
                  </a:solidFill>
                  <a:latin typeface="Calibri"/>
                </a:rPr>
                <a:t>&amp; password</a:t>
              </a:r>
              <a:endParaRPr lang="en-US" altLang="zh-CN" sz="1050" kern="100"/>
            </a:p>
          </p:txBody>
        </p:sp>
        <p:sp>
          <p:nvSpPr>
            <p:cNvPr id="103" name="CredentialsValid"/>
            <p:cNvSpPr/>
            <p:nvPr/>
          </p:nvSpPr>
          <p:spPr>
            <a:xfrm>
              <a:off x="19736" y="3163"/>
              <a:ext cx="3744" cy="1584"/>
            </a:xfrm>
            <a:prstGeom prst="diamond">
              <a:avLst/>
            </a:prstGeom>
            <a:solidFill>
              <a:srgbClr val="FCE4D6"/>
            </a:solidFill>
            <a:ln w="9525">
              <a:solidFill>
                <a:srgbClr val="ED7D31"/>
              </a:solidFill>
            </a:ln>
          </p:spPr>
          <p:txBody>
            <a:bodyPr wrap="square" lIns="45720" tIns="27432" rIns="45720" bIns="27432" anchor="ctr" anchorCtr="1">
              <a:noAutofit/>
            </a:bodyPr>
            <a:lstStyle/>
            <a:p>
              <a:pPr algn="ctr">
                <a:lnSpc>
                  <a:spcPct val="100000"/>
                </a:lnSpc>
                <a:spcAft>
                  <a:spcPts val="0"/>
                </a:spcAft>
              </a:pPr>
              <a:r>
                <a:rPr lang="en-US" altLang="zh-CN" sz="850" kern="100">
                  <a:solidFill>
                    <a:srgbClr val="1F1F1F"/>
                  </a:solidFill>
                  <a:latin typeface="Calibri"/>
                </a:rPr>
                <a:t>Credentials</a:t>
              </a:r>
              <a:endParaRPr lang="en-US" altLang="zh-CN" sz="1050" kern="100"/>
            </a:p>
            <a:p>
              <a:pPr algn="ctr">
                <a:lnSpc>
                  <a:spcPct val="100000"/>
                </a:lnSpc>
                <a:spcAft>
                  <a:spcPts val="0"/>
                </a:spcAft>
              </a:pPr>
              <a:r>
                <a:rPr lang="en-US" altLang="zh-CN" sz="850" kern="100">
                  <a:solidFill>
                    <a:srgbClr val="1F1F1F"/>
                  </a:solidFill>
                  <a:latin typeface="Calibri"/>
                </a:rPr>
                <a:t>valid?</a:t>
              </a:r>
              <a:endParaRPr lang="en-US" altLang="zh-CN" sz="1050" kern="100"/>
            </a:p>
          </p:txBody>
        </p:sp>
        <p:sp>
          <p:nvSpPr>
            <p:cNvPr id="104" name="ShowError"/>
            <p:cNvSpPr/>
            <p:nvPr/>
          </p:nvSpPr>
          <p:spPr>
            <a:xfrm>
              <a:off x="16424" y="3451"/>
              <a:ext cx="2808" cy="1008"/>
            </a:xfrm>
            <a:prstGeom prst="rect">
              <a:avLst/>
            </a:prstGeom>
            <a:solidFill>
              <a:srgbClr val="DCE6F1"/>
            </a:solidFill>
            <a:ln w="9525">
              <a:solidFill>
                <a:srgbClr val="4472C4"/>
              </a:solidFill>
            </a:ln>
          </p:spPr>
          <p:txBody>
            <a:bodyPr wrap="square" lIns="45720" tIns="27432" rIns="45720" bIns="27432" anchor="ctr" anchorCtr="1">
              <a:noAutofit/>
            </a:bodyPr>
            <a:lstStyle/>
            <a:p>
              <a:pPr algn="ctr">
                <a:lnSpc>
                  <a:spcPct val="100000"/>
                </a:lnSpc>
                <a:spcAft>
                  <a:spcPts val="0"/>
                </a:spcAft>
              </a:pPr>
              <a:r>
                <a:rPr lang="en-US" altLang="zh-CN" sz="700" kern="100">
                  <a:solidFill>
                    <a:srgbClr val="1F1F1F"/>
                  </a:solidFill>
                  <a:latin typeface="Calibri"/>
                </a:rPr>
                <a:t>Show error,</a:t>
              </a:r>
              <a:endParaRPr lang="en-US" altLang="zh-CN" sz="1050" kern="100"/>
            </a:p>
            <a:p>
              <a:pPr algn="ctr">
                <a:lnSpc>
                  <a:spcPct val="100000"/>
                </a:lnSpc>
                <a:spcAft>
                  <a:spcPts val="0"/>
                </a:spcAft>
              </a:pPr>
              <a:r>
                <a:rPr lang="en-US" altLang="zh-CN" sz="700" kern="100">
                  <a:solidFill>
                    <a:srgbClr val="1F1F1F"/>
                  </a:solidFill>
                  <a:latin typeface="Calibri"/>
                </a:rPr>
                <a:t>allow retry</a:t>
              </a:r>
              <a:endParaRPr lang="en-US" altLang="zh-CN" sz="1050" kern="100"/>
            </a:p>
            <a:p>
              <a:pPr algn="ctr">
                <a:lnSpc>
                  <a:spcPct val="100000"/>
                </a:lnSpc>
                <a:spcAft>
                  <a:spcPts val="0"/>
                </a:spcAft>
              </a:pPr>
              <a:r>
                <a:rPr lang="en-US" altLang="zh-CN" sz="700" kern="100">
                  <a:solidFill>
                    <a:srgbClr val="1F1F1F"/>
                  </a:solidFill>
                  <a:latin typeface="Calibri"/>
                </a:rPr>
                <a:t>(max 3 tries)</a:t>
              </a:r>
              <a:endParaRPr lang="en-US" altLang="zh-CN" sz="1050" kern="100"/>
            </a:p>
          </p:txBody>
        </p:sp>
        <p:sp>
          <p:nvSpPr>
            <p:cNvPr id="105" name="Role"/>
            <p:cNvSpPr/>
            <p:nvPr/>
          </p:nvSpPr>
          <p:spPr>
            <a:xfrm>
              <a:off x="19736" y="5179"/>
              <a:ext cx="3744" cy="1584"/>
            </a:xfrm>
            <a:prstGeom prst="diamond">
              <a:avLst/>
            </a:prstGeom>
            <a:solidFill>
              <a:srgbClr val="FCE4D6"/>
            </a:solidFill>
            <a:ln w="9525">
              <a:solidFill>
                <a:srgbClr val="ED7D31"/>
              </a:solidFill>
            </a:ln>
          </p:spPr>
          <p:txBody>
            <a:bodyPr wrap="square" lIns="45720" tIns="27432" rIns="45720" bIns="27432" anchor="ctr" anchorCtr="1">
              <a:noAutofit/>
            </a:bodyPr>
            <a:lstStyle/>
            <a:p>
              <a:pPr algn="ctr">
                <a:lnSpc>
                  <a:spcPct val="100000"/>
                </a:lnSpc>
                <a:spcAft>
                  <a:spcPts val="0"/>
                </a:spcAft>
              </a:pPr>
              <a:r>
                <a:rPr lang="en-US" altLang="zh-CN" sz="900" kern="100">
                  <a:solidFill>
                    <a:srgbClr val="1F1F1F"/>
                  </a:solidFill>
                  <a:latin typeface="Calibri"/>
                </a:rPr>
                <a:t>Role?</a:t>
              </a:r>
              <a:endParaRPr lang="en-US" altLang="zh-CN" sz="1050" kern="100"/>
            </a:p>
          </p:txBody>
        </p:sp>
        <p:sp>
          <p:nvSpPr>
            <p:cNvPr id="106" name="LibrarianMenu"/>
            <p:cNvSpPr/>
            <p:nvPr/>
          </p:nvSpPr>
          <p:spPr>
            <a:xfrm>
              <a:off x="16712" y="7195"/>
              <a:ext cx="3312" cy="720"/>
            </a:xfrm>
            <a:prstGeom prst="rect">
              <a:avLst/>
            </a:prstGeom>
            <a:solidFill>
              <a:srgbClr val="DCE6F1"/>
            </a:solidFill>
            <a:ln w="9525">
              <a:solidFill>
                <a:srgbClr val="4472C4"/>
              </a:solidFill>
            </a:ln>
          </p:spPr>
          <p:txBody>
            <a:bodyPr wrap="square" lIns="45720" tIns="27432" rIns="45720" bIns="27432" anchor="ctr" anchorCtr="1">
              <a:noAutofit/>
            </a:bodyPr>
            <a:lstStyle/>
            <a:p>
              <a:pPr algn="ctr">
                <a:lnSpc>
                  <a:spcPct val="100000"/>
                </a:lnSpc>
                <a:spcAft>
                  <a:spcPts val="0"/>
                </a:spcAft>
              </a:pPr>
              <a:r>
                <a:rPr lang="en-US" altLang="zh-CN" sz="900" b="1" kern="100">
                  <a:solidFill>
                    <a:srgbClr val="1F1F1F"/>
                  </a:solidFill>
                  <a:latin typeface="Calibri"/>
                </a:rPr>
                <a:t>Librarian Menu</a:t>
              </a:r>
              <a:endParaRPr lang="en-US" altLang="zh-CN" sz="1050" kern="100"/>
            </a:p>
          </p:txBody>
        </p:sp>
        <p:sp>
          <p:nvSpPr>
            <p:cNvPr id="107" name="StudentMenu"/>
            <p:cNvSpPr/>
            <p:nvPr/>
          </p:nvSpPr>
          <p:spPr>
            <a:xfrm>
              <a:off x="23408" y="7195"/>
              <a:ext cx="3312" cy="720"/>
            </a:xfrm>
            <a:prstGeom prst="rect">
              <a:avLst/>
            </a:prstGeom>
            <a:solidFill>
              <a:srgbClr val="DCE6F1"/>
            </a:solidFill>
            <a:ln w="9525">
              <a:solidFill>
                <a:srgbClr val="4472C4"/>
              </a:solidFill>
            </a:ln>
          </p:spPr>
          <p:txBody>
            <a:bodyPr wrap="square" lIns="45720" tIns="27432" rIns="45720" bIns="27432" anchor="ctr" anchorCtr="1">
              <a:noAutofit/>
            </a:bodyPr>
            <a:lstStyle/>
            <a:p>
              <a:pPr algn="ctr">
                <a:lnSpc>
                  <a:spcPct val="100000"/>
                </a:lnSpc>
                <a:spcAft>
                  <a:spcPts val="0"/>
                </a:spcAft>
              </a:pPr>
              <a:r>
                <a:rPr lang="en-US" altLang="zh-CN" sz="900" b="1" kern="100">
                  <a:solidFill>
                    <a:srgbClr val="1F1F1F"/>
                  </a:solidFill>
                  <a:latin typeface="Calibri"/>
                </a:rPr>
                <a:t>Student Menu</a:t>
              </a:r>
              <a:endParaRPr lang="en-US" altLang="zh-CN" sz="1050" kern="100"/>
            </a:p>
          </p:txBody>
        </p:sp>
        <p:sp>
          <p:nvSpPr>
            <p:cNvPr id="108" name="LibrarianList"/>
            <p:cNvSpPr/>
            <p:nvPr/>
          </p:nvSpPr>
          <p:spPr>
            <a:xfrm>
              <a:off x="16352" y="8203"/>
              <a:ext cx="4032" cy="1656"/>
            </a:xfrm>
            <a:prstGeom prst="rect">
              <a:avLst/>
            </a:prstGeom>
            <a:solidFill>
              <a:srgbClr val="FFFFFF"/>
            </a:solidFill>
            <a:ln w="9525">
              <a:solidFill>
                <a:srgbClr val="4472C4"/>
              </a:solidFill>
            </a:ln>
          </p:spPr>
          <p:txBody>
            <a:bodyPr wrap="square" lIns="45720" tIns="27432" rIns="45720" bIns="27432" anchor="ctr" anchorCtr="1">
              <a:noAutofit/>
            </a:bodyPr>
            <a:lstStyle/>
            <a:p>
              <a:pPr algn="ctr">
                <a:lnSpc>
                  <a:spcPct val="100000"/>
                </a:lnSpc>
                <a:spcAft>
                  <a:spcPts val="0"/>
                </a:spcAft>
              </a:pPr>
              <a:r>
                <a:rPr lang="en-US" altLang="zh-CN" sz="700" kern="100">
                  <a:solidFill>
                    <a:srgbClr val="1F1F1F"/>
                  </a:solidFill>
                  <a:latin typeface="Calibri"/>
                </a:rPr>
                <a:t>1 Add book</a:t>
              </a:r>
              <a:endParaRPr lang="en-US" altLang="zh-CN" sz="1050" kern="100"/>
            </a:p>
            <a:p>
              <a:pPr algn="ctr">
                <a:lnSpc>
                  <a:spcPct val="100000"/>
                </a:lnSpc>
                <a:spcAft>
                  <a:spcPts val="0"/>
                </a:spcAft>
              </a:pPr>
              <a:r>
                <a:rPr lang="en-US" altLang="zh-CN" sz="700" kern="100">
                  <a:solidFill>
                    <a:srgbClr val="1F1F1F"/>
                  </a:solidFill>
                  <a:latin typeface="Calibri"/>
                </a:rPr>
                <a:t>2 Remove book</a:t>
              </a:r>
              <a:endParaRPr lang="en-US" altLang="zh-CN" sz="1050" kern="100"/>
            </a:p>
            <a:p>
              <a:pPr algn="ctr">
                <a:lnSpc>
                  <a:spcPct val="100000"/>
                </a:lnSpc>
                <a:spcAft>
                  <a:spcPts val="0"/>
                </a:spcAft>
              </a:pPr>
              <a:r>
                <a:rPr lang="en-US" altLang="zh-CN" sz="700" kern="100">
                  <a:solidFill>
                    <a:srgbClr val="1F1F1F"/>
                  </a:solidFill>
                  <a:latin typeface="Calibri"/>
                </a:rPr>
                <a:t>3 Update member</a:t>
              </a:r>
              <a:endParaRPr lang="en-US" altLang="zh-CN" sz="1050" kern="100"/>
            </a:p>
            <a:p>
              <a:pPr algn="ctr">
                <a:lnSpc>
                  <a:spcPct val="100000"/>
                </a:lnSpc>
                <a:spcAft>
                  <a:spcPts val="0"/>
                </a:spcAft>
              </a:pPr>
              <a:r>
                <a:rPr lang="en-US" altLang="zh-CN" sz="700" kern="100">
                  <a:solidFill>
                    <a:srgbClr val="1F1F1F"/>
                  </a:solidFill>
                  <a:latin typeface="Calibri"/>
                </a:rPr>
                <a:t>4 Overdue report</a:t>
              </a:r>
              <a:endParaRPr lang="en-US" altLang="zh-CN" sz="1050" kern="100"/>
            </a:p>
            <a:p>
              <a:pPr algn="ctr">
                <a:lnSpc>
                  <a:spcPct val="100000"/>
                </a:lnSpc>
                <a:spcAft>
                  <a:spcPts val="0"/>
                </a:spcAft>
              </a:pPr>
              <a:r>
                <a:rPr lang="en-US" altLang="zh-CN" sz="700" kern="100">
                  <a:solidFill>
                    <a:srgbClr val="1F1F1F"/>
                  </a:solidFill>
                  <a:latin typeface="Calibri"/>
                </a:rPr>
                <a:t>5 Logout</a:t>
              </a:r>
              <a:endParaRPr lang="en-US" altLang="zh-CN" sz="1050" kern="100"/>
            </a:p>
          </p:txBody>
        </p:sp>
        <p:sp>
          <p:nvSpPr>
            <p:cNvPr id="109" name="StudentList"/>
            <p:cNvSpPr/>
            <p:nvPr/>
          </p:nvSpPr>
          <p:spPr>
            <a:xfrm>
              <a:off x="23048" y="8203"/>
              <a:ext cx="4032" cy="1656"/>
            </a:xfrm>
            <a:prstGeom prst="rect">
              <a:avLst/>
            </a:prstGeom>
            <a:solidFill>
              <a:srgbClr val="FFFFFF"/>
            </a:solidFill>
            <a:ln w="9525">
              <a:solidFill>
                <a:srgbClr val="4472C4"/>
              </a:solidFill>
            </a:ln>
          </p:spPr>
          <p:txBody>
            <a:bodyPr wrap="square" lIns="45720" tIns="27432" rIns="45720" bIns="27432" anchor="ctr" anchorCtr="1">
              <a:noAutofit/>
            </a:bodyPr>
            <a:lstStyle/>
            <a:p>
              <a:pPr algn="ctr">
                <a:lnSpc>
                  <a:spcPct val="100000"/>
                </a:lnSpc>
                <a:spcAft>
                  <a:spcPts val="0"/>
                </a:spcAft>
              </a:pPr>
              <a:r>
                <a:rPr lang="en-US" altLang="zh-CN" sz="700" kern="100">
                  <a:solidFill>
                    <a:srgbClr val="1F1F1F"/>
                  </a:solidFill>
                  <a:latin typeface="Calibri"/>
                </a:rPr>
                <a:t>1 Search books</a:t>
              </a:r>
              <a:endParaRPr lang="en-US" altLang="zh-CN" sz="1050" kern="100"/>
            </a:p>
            <a:p>
              <a:pPr algn="ctr">
                <a:lnSpc>
                  <a:spcPct val="100000"/>
                </a:lnSpc>
                <a:spcAft>
                  <a:spcPts val="0"/>
                </a:spcAft>
              </a:pPr>
              <a:r>
                <a:rPr lang="en-US" altLang="zh-CN" sz="700" kern="100">
                  <a:solidFill>
                    <a:srgbClr val="1F1F1F"/>
                  </a:solidFill>
                  <a:latin typeface="Calibri"/>
                </a:rPr>
                <a:t>2 View my loans</a:t>
              </a:r>
              <a:endParaRPr lang="en-US" altLang="zh-CN" sz="1050" kern="100"/>
            </a:p>
            <a:p>
              <a:pPr algn="ctr">
                <a:lnSpc>
                  <a:spcPct val="100000"/>
                </a:lnSpc>
                <a:spcAft>
                  <a:spcPts val="0"/>
                </a:spcAft>
              </a:pPr>
              <a:r>
                <a:rPr lang="en-US" altLang="zh-CN" sz="700" kern="100">
                  <a:solidFill>
                    <a:srgbClr val="1F1F1F"/>
                  </a:solidFill>
                  <a:latin typeface="Calibri"/>
                </a:rPr>
                <a:t>3 Update profile</a:t>
              </a:r>
              <a:endParaRPr lang="en-US" altLang="zh-CN" sz="1050" kern="100"/>
            </a:p>
            <a:p>
              <a:pPr algn="ctr">
                <a:lnSpc>
                  <a:spcPct val="100000"/>
                </a:lnSpc>
                <a:spcAft>
                  <a:spcPts val="0"/>
                </a:spcAft>
              </a:pPr>
              <a:r>
                <a:rPr lang="en-US" altLang="zh-CN" sz="700" kern="100">
                  <a:solidFill>
                    <a:srgbClr val="1F1F1F"/>
                  </a:solidFill>
                  <a:latin typeface="Calibri"/>
                </a:rPr>
                <a:t>4 Logout</a:t>
              </a:r>
              <a:endParaRPr lang="en-US" altLang="zh-CN" sz="1050" kern="100"/>
            </a:p>
          </p:txBody>
        </p:sp>
        <p:sp>
          <p:nvSpPr>
            <p:cNvPr id="110" name="PerformAction"/>
            <p:cNvSpPr/>
            <p:nvPr/>
          </p:nvSpPr>
          <p:spPr>
            <a:xfrm>
              <a:off x="19232" y="10219"/>
              <a:ext cx="4752" cy="1008"/>
            </a:xfrm>
            <a:prstGeom prst="rect">
              <a:avLst/>
            </a:prstGeom>
            <a:solidFill>
              <a:srgbClr val="DCE6F1"/>
            </a:solidFill>
            <a:ln w="9525">
              <a:solidFill>
                <a:srgbClr val="4472C4"/>
              </a:solidFill>
            </a:ln>
          </p:spPr>
          <p:txBody>
            <a:bodyPr wrap="square" lIns="45720" tIns="27432" rIns="45720" bIns="27432" anchor="ctr" anchorCtr="1">
              <a:noAutofit/>
            </a:bodyPr>
            <a:lstStyle/>
            <a:p>
              <a:pPr algn="ctr">
                <a:lnSpc>
                  <a:spcPct val="100000"/>
                </a:lnSpc>
                <a:spcAft>
                  <a:spcPts val="0"/>
                </a:spcAft>
              </a:pPr>
              <a:r>
                <a:rPr lang="en-US" altLang="zh-CN" sz="800" kern="100">
                  <a:solidFill>
                    <a:srgbClr val="1F1F1F"/>
                  </a:solidFill>
                  <a:latin typeface="Calibri"/>
                </a:rPr>
                <a:t>Perform action via</a:t>
              </a:r>
              <a:endParaRPr lang="en-US" altLang="zh-CN" sz="1050" kern="100"/>
            </a:p>
            <a:p>
              <a:pPr algn="ctr">
                <a:lnSpc>
                  <a:spcPct val="100000"/>
                </a:lnSpc>
                <a:spcAft>
                  <a:spcPts val="0"/>
                </a:spcAft>
              </a:pPr>
              <a:r>
                <a:rPr lang="en-US" altLang="zh-CN" sz="800" kern="100">
                  <a:solidFill>
                    <a:srgbClr val="1F1F1F"/>
                  </a:solidFill>
                  <a:latin typeface="Calibri"/>
                </a:rPr>
                <a:t>data_io.py (read/write .txt)</a:t>
              </a:r>
              <a:endParaRPr lang="en-US" altLang="zh-CN" sz="1050" kern="100"/>
            </a:p>
          </p:txBody>
        </p:sp>
        <p:sp>
          <p:nvSpPr>
            <p:cNvPr id="111" name="ChooseLogout"/>
            <p:cNvSpPr/>
            <p:nvPr/>
          </p:nvSpPr>
          <p:spPr>
            <a:xfrm>
              <a:off x="19736" y="11587"/>
              <a:ext cx="3744" cy="1584"/>
            </a:xfrm>
            <a:prstGeom prst="diamond">
              <a:avLst/>
            </a:prstGeom>
            <a:solidFill>
              <a:srgbClr val="FCE4D6"/>
            </a:solidFill>
            <a:ln w="9525">
              <a:solidFill>
                <a:srgbClr val="ED7D31"/>
              </a:solidFill>
            </a:ln>
          </p:spPr>
          <p:txBody>
            <a:bodyPr wrap="square" lIns="45720" tIns="27432" rIns="45720" bIns="27432" anchor="ctr" anchorCtr="1">
              <a:noAutofit/>
            </a:bodyPr>
            <a:lstStyle/>
            <a:p>
              <a:pPr algn="ctr">
                <a:lnSpc>
                  <a:spcPct val="100000"/>
                </a:lnSpc>
                <a:spcAft>
                  <a:spcPts val="0"/>
                </a:spcAft>
              </a:pPr>
              <a:r>
                <a:rPr lang="en-US" altLang="zh-CN" sz="850" kern="100">
                  <a:solidFill>
                    <a:srgbClr val="1F1F1F"/>
                  </a:solidFill>
                  <a:latin typeface="Calibri"/>
                </a:rPr>
                <a:t>Choose</a:t>
              </a:r>
              <a:endParaRPr lang="en-US" altLang="zh-CN" sz="1050" kern="100"/>
            </a:p>
            <a:p>
              <a:pPr algn="ctr">
                <a:lnSpc>
                  <a:spcPct val="100000"/>
                </a:lnSpc>
                <a:spcAft>
                  <a:spcPts val="0"/>
                </a:spcAft>
              </a:pPr>
              <a:r>
                <a:rPr lang="en-US" altLang="zh-CN" sz="850" kern="100">
                  <a:solidFill>
                    <a:srgbClr val="1F1F1F"/>
                  </a:solidFill>
                  <a:latin typeface="Calibri"/>
                </a:rPr>
                <a:t>Logout?</a:t>
              </a:r>
              <a:endParaRPr lang="en-US" altLang="zh-CN" sz="1050" kern="100"/>
            </a:p>
          </p:txBody>
        </p:sp>
        <p:sp>
          <p:nvSpPr>
            <p:cNvPr id="112" name="End"/>
            <p:cNvSpPr/>
            <p:nvPr/>
          </p:nvSpPr>
          <p:spPr>
            <a:xfrm>
              <a:off x="20528" y="13531"/>
              <a:ext cx="2160" cy="720"/>
            </a:xfrm>
            <a:prstGeom prst="roundRect">
              <a:avLst/>
            </a:prstGeom>
            <a:solidFill>
              <a:srgbClr val="1F3864"/>
            </a:solidFill>
            <a:ln w="9525">
              <a:solidFill>
                <a:srgbClr val="1F3864"/>
              </a:solidFill>
            </a:ln>
          </p:spPr>
          <p:txBody>
            <a:bodyPr wrap="square" lIns="45720" tIns="27432" rIns="45720" bIns="27432" anchor="ctr" anchorCtr="1">
              <a:noAutofit/>
            </a:bodyPr>
            <a:lstStyle/>
            <a:p>
              <a:pPr algn="ctr">
                <a:lnSpc>
                  <a:spcPct val="100000"/>
                </a:lnSpc>
                <a:spcAft>
                  <a:spcPts val="0"/>
                </a:spcAft>
              </a:pPr>
              <a:r>
                <a:rPr lang="en-US" altLang="zh-CN" sz="1100" b="1" kern="100">
                  <a:solidFill>
                    <a:srgbClr val="FFFFFF"/>
                  </a:solidFill>
                  <a:latin typeface="Calibri"/>
                </a:rPr>
                <a:t>END</a:t>
              </a:r>
              <a:endParaRPr lang="en-US" altLang="zh-CN" sz="1050" kern="100"/>
            </a:p>
          </p:txBody>
        </p:sp>
        <p:cxnSp>
          <p:nvCxnSpPr>
            <p:cNvPr id="114" name="l-login-cred"/>
            <p:cNvCxnSpPr/>
            <p:nvPr/>
          </p:nvCxnSpPr>
          <p:spPr>
            <a:xfrm>
              <a:off x="21608" y="2731"/>
              <a:ext cx="1" cy="432"/>
            </a:xfrm>
            <a:prstGeom prst="line">
              <a:avLst/>
            </a:prstGeom>
            <a:ln w="12700">
              <a:solidFill>
                <a:srgbClr val="595959"/>
              </a:solidFill>
              <a:tailEnd type="triangle" w="med" len="med"/>
            </a:ln>
          </p:spPr>
        </p:cxnSp>
        <p:cxnSp>
          <p:nvCxnSpPr>
            <p:cNvPr id="115" name="l-cred-error"/>
            <p:cNvCxnSpPr/>
            <p:nvPr/>
          </p:nvCxnSpPr>
          <p:spPr>
            <a:xfrm flipH="1">
              <a:off x="19232" y="3955"/>
              <a:ext cx="504" cy="1"/>
            </a:xfrm>
            <a:prstGeom prst="line">
              <a:avLst/>
            </a:prstGeom>
            <a:ln w="12700">
              <a:solidFill>
                <a:srgbClr val="595959"/>
              </a:solidFill>
              <a:tailEnd type="triangle" w="med" len="med"/>
            </a:ln>
          </p:spPr>
        </p:cxnSp>
        <p:sp>
          <p:nvSpPr>
            <p:cNvPr id="116" name="lbl-no1"/>
            <p:cNvSpPr/>
            <p:nvPr/>
          </p:nvSpPr>
          <p:spPr>
            <a:xfrm>
              <a:off x="19232" y="3566"/>
              <a:ext cx="576" cy="360"/>
            </a:xfrm>
            <a:prstGeom prst="rect">
              <a:avLst/>
            </a:prstGeom>
            <a:noFill/>
            <a:ln>
              <a:noFill/>
            </a:ln>
          </p:spPr>
          <p:txBody>
            <a:bodyPr wrap="square" lIns="0" tIns="0" rIns="0" bIns="0" anchor="ctr" anchorCtr="1"/>
            <a:lstStyle/>
            <a:p>
              <a:pPr algn="ctr">
                <a:lnSpc>
                  <a:spcPct val="100000"/>
                </a:lnSpc>
                <a:spcAft>
                  <a:spcPts val="0"/>
                </a:spcAft>
              </a:pPr>
              <a:r>
                <a:rPr lang="en-US" altLang="zh-CN" sz="750" kern="100">
                  <a:solidFill>
                    <a:srgbClr val="404040"/>
                  </a:solidFill>
                  <a:latin typeface="Calibri"/>
                </a:rPr>
                <a:t>No</a:t>
              </a:r>
              <a:endParaRPr lang="en-US" altLang="zh-CN" sz="1050" kern="100"/>
            </a:p>
          </p:txBody>
        </p:sp>
        <p:cxnSp>
          <p:nvCxnSpPr>
            <p:cNvPr id="117" name="l-error-up"/>
            <p:cNvCxnSpPr/>
            <p:nvPr/>
          </p:nvCxnSpPr>
          <p:spPr>
            <a:xfrm flipV="1">
              <a:off x="17792" y="2227"/>
              <a:ext cx="1" cy="1224"/>
            </a:xfrm>
            <a:prstGeom prst="line">
              <a:avLst/>
            </a:prstGeom>
            <a:ln w="12700">
              <a:solidFill>
                <a:srgbClr val="595959"/>
              </a:solidFill>
            </a:ln>
          </p:spPr>
        </p:cxnSp>
        <p:cxnSp>
          <p:nvCxnSpPr>
            <p:cNvPr id="118" name="l-error-login"/>
            <p:cNvCxnSpPr/>
            <p:nvPr/>
          </p:nvCxnSpPr>
          <p:spPr>
            <a:xfrm>
              <a:off x="17792" y="2227"/>
              <a:ext cx="1800" cy="1"/>
            </a:xfrm>
            <a:prstGeom prst="line">
              <a:avLst/>
            </a:prstGeom>
            <a:ln w="12700">
              <a:solidFill>
                <a:srgbClr val="595959"/>
              </a:solidFill>
              <a:tailEnd type="triangle" w="med" len="med"/>
            </a:ln>
          </p:spPr>
        </p:cxnSp>
        <p:cxnSp>
          <p:nvCxnSpPr>
            <p:cNvPr id="119" name="l-cred-role"/>
            <p:cNvCxnSpPr/>
            <p:nvPr/>
          </p:nvCxnSpPr>
          <p:spPr>
            <a:xfrm>
              <a:off x="21608" y="4747"/>
              <a:ext cx="1" cy="432"/>
            </a:xfrm>
            <a:prstGeom prst="line">
              <a:avLst/>
            </a:prstGeom>
            <a:ln w="12700">
              <a:solidFill>
                <a:srgbClr val="595959"/>
              </a:solidFill>
              <a:tailEnd type="triangle" w="med" len="med"/>
            </a:ln>
          </p:spPr>
        </p:cxnSp>
        <p:cxnSp>
          <p:nvCxnSpPr>
            <p:cNvPr id="121" name="l-role-lib"/>
            <p:cNvCxnSpPr/>
            <p:nvPr/>
          </p:nvCxnSpPr>
          <p:spPr>
            <a:xfrm flipH="1">
              <a:off x="18368" y="6043"/>
              <a:ext cx="1368" cy="1152"/>
            </a:xfrm>
            <a:prstGeom prst="line">
              <a:avLst/>
            </a:prstGeom>
            <a:ln w="12700">
              <a:solidFill>
                <a:srgbClr val="595959"/>
              </a:solidFill>
              <a:tailEnd type="triangle" w="med" len="med"/>
            </a:ln>
          </p:spPr>
        </p:cxnSp>
        <p:sp>
          <p:nvSpPr>
            <p:cNvPr id="122" name="lbl-librarian"/>
            <p:cNvSpPr/>
            <p:nvPr/>
          </p:nvSpPr>
          <p:spPr>
            <a:xfrm>
              <a:off x="17864" y="6259"/>
              <a:ext cx="1584" cy="432"/>
            </a:xfrm>
            <a:prstGeom prst="rect">
              <a:avLst/>
            </a:prstGeom>
            <a:noFill/>
            <a:ln>
              <a:noFill/>
            </a:ln>
          </p:spPr>
          <p:txBody>
            <a:bodyPr wrap="square" lIns="0" tIns="0" rIns="0" bIns="0" anchor="ctr" anchorCtr="1"/>
            <a:lstStyle/>
            <a:p>
              <a:pPr algn="ctr">
                <a:lnSpc>
                  <a:spcPct val="100000"/>
                </a:lnSpc>
                <a:spcAft>
                  <a:spcPts val="0"/>
                </a:spcAft>
              </a:pPr>
              <a:r>
                <a:rPr lang="en-US" altLang="zh-CN" sz="750" kern="100">
                  <a:solidFill>
                    <a:srgbClr val="404040"/>
                  </a:solidFill>
                  <a:latin typeface="Calibri"/>
                </a:rPr>
                <a:t>Librarian</a:t>
              </a:r>
              <a:endParaRPr lang="en-US" altLang="zh-CN" sz="1050" kern="100"/>
            </a:p>
          </p:txBody>
        </p:sp>
        <p:cxnSp>
          <p:nvCxnSpPr>
            <p:cNvPr id="123" name="l-role-stu"/>
            <p:cNvCxnSpPr/>
            <p:nvPr/>
          </p:nvCxnSpPr>
          <p:spPr>
            <a:xfrm>
              <a:off x="23480" y="6043"/>
              <a:ext cx="1584" cy="1152"/>
            </a:xfrm>
            <a:prstGeom prst="line">
              <a:avLst/>
            </a:prstGeom>
            <a:ln w="12700">
              <a:solidFill>
                <a:srgbClr val="595959"/>
              </a:solidFill>
              <a:tailEnd type="triangle" w="med" len="med"/>
            </a:ln>
          </p:spPr>
        </p:cxnSp>
        <p:cxnSp>
          <p:nvCxnSpPr>
            <p:cNvPr id="125" name="l-libmenu-liblist"/>
            <p:cNvCxnSpPr/>
            <p:nvPr/>
          </p:nvCxnSpPr>
          <p:spPr>
            <a:xfrm>
              <a:off x="18368" y="7915"/>
              <a:ext cx="1" cy="288"/>
            </a:xfrm>
            <a:prstGeom prst="line">
              <a:avLst/>
            </a:prstGeom>
            <a:ln w="12700">
              <a:solidFill>
                <a:srgbClr val="595959"/>
              </a:solidFill>
              <a:tailEnd type="triangle" w="med" len="med"/>
            </a:ln>
          </p:spPr>
        </p:cxnSp>
        <p:cxnSp>
          <p:nvCxnSpPr>
            <p:cNvPr id="127" name="l-liblist-perform"/>
            <p:cNvCxnSpPr/>
            <p:nvPr/>
          </p:nvCxnSpPr>
          <p:spPr>
            <a:xfrm>
              <a:off x="18368" y="9859"/>
              <a:ext cx="1440" cy="360"/>
            </a:xfrm>
            <a:prstGeom prst="line">
              <a:avLst/>
            </a:prstGeom>
            <a:ln w="12700">
              <a:solidFill>
                <a:srgbClr val="595959"/>
              </a:solidFill>
              <a:tailEnd type="triangle" w="med" len="med"/>
            </a:ln>
          </p:spPr>
        </p:cxnSp>
        <p:cxnSp>
          <p:nvCxnSpPr>
            <p:cNvPr id="128" name="l-stulist-perform"/>
            <p:cNvCxnSpPr/>
            <p:nvPr/>
          </p:nvCxnSpPr>
          <p:spPr>
            <a:xfrm flipH="1">
              <a:off x="23408" y="9859"/>
              <a:ext cx="1656" cy="360"/>
            </a:xfrm>
            <a:prstGeom prst="line">
              <a:avLst/>
            </a:prstGeom>
            <a:ln w="12700">
              <a:solidFill>
                <a:srgbClr val="595959"/>
              </a:solidFill>
              <a:tailEnd type="triangle" w="med" len="med"/>
            </a:ln>
          </p:spPr>
        </p:cxnSp>
        <p:cxnSp>
          <p:nvCxnSpPr>
            <p:cNvPr id="129" name="l-perform-choose"/>
            <p:cNvCxnSpPr/>
            <p:nvPr/>
          </p:nvCxnSpPr>
          <p:spPr>
            <a:xfrm>
              <a:off x="21608" y="11227"/>
              <a:ext cx="1" cy="360"/>
            </a:xfrm>
            <a:prstGeom prst="line">
              <a:avLst/>
            </a:prstGeom>
            <a:ln w="12700">
              <a:solidFill>
                <a:srgbClr val="595959"/>
              </a:solidFill>
              <a:tailEnd type="triangle" w="med" len="med"/>
            </a:ln>
          </p:spPr>
        </p:cxnSp>
        <p:cxnSp>
          <p:nvCxnSpPr>
            <p:cNvPr id="130" name="l-choose-end"/>
            <p:cNvCxnSpPr/>
            <p:nvPr/>
          </p:nvCxnSpPr>
          <p:spPr>
            <a:xfrm>
              <a:off x="21608" y="13171"/>
              <a:ext cx="1" cy="360"/>
            </a:xfrm>
            <a:prstGeom prst="line">
              <a:avLst/>
            </a:prstGeom>
            <a:ln w="12700">
              <a:solidFill>
                <a:srgbClr val="595959"/>
              </a:solidFill>
              <a:tailEnd type="triangle" w="med" len="med"/>
            </a:ln>
          </p:spPr>
        </p:cxnSp>
        <p:cxnSp>
          <p:nvCxnSpPr>
            <p:cNvPr id="134" name="l-toperform"/>
            <p:cNvCxnSpPr/>
            <p:nvPr/>
          </p:nvCxnSpPr>
          <p:spPr>
            <a:xfrm flipH="1">
              <a:off x="24128" y="10723"/>
              <a:ext cx="288" cy="1"/>
            </a:xfrm>
            <a:prstGeom prst="line">
              <a:avLst/>
            </a:prstGeom>
            <a:ln w="12700">
              <a:solidFill>
                <a:srgbClr val="595959"/>
              </a:solidFill>
              <a:tailEnd type="triangle" w="med" len="med"/>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40080" y="1113790"/>
            <a:ext cx="5455920" cy="1076325"/>
          </a:xfrm>
          <a:prstGeom prst="rect">
            <a:avLst/>
          </a:prstGeom>
        </p:spPr>
        <p:txBody>
          <a:bodyPr wrap="square">
            <a:spAutoFit/>
          </a:bodyPr>
          <a:lstStyle/>
          <a:p>
            <a:r>
              <a:rPr lang="en-US" altLang="zh-CN" sz="1600"/>
              <a:t>Handles user login with authentication, directs users to the appropriate Librarian or Student menu based on their role, manages menu navigation, validates user input, and handles exceptions to ensure the program runs smoothly.</a:t>
            </a:r>
          </a:p>
        </p:txBody>
      </p:sp>
      <p:sp>
        <p:nvSpPr>
          <p:cNvPr id="3" name="Text 0"/>
          <p:cNvSpPr/>
          <p:nvPr/>
        </p:nvSpPr>
        <p:spPr>
          <a:xfrm>
            <a:off x="640080" y="365760"/>
            <a:ext cx="7772400" cy="548640"/>
          </a:xfrm>
          <a:prstGeom prst="rect">
            <a:avLst/>
          </a:prstGeom>
          <a:noFill/>
        </p:spPr>
        <p:txBody>
          <a:bodyPr wrap="square" rtlCol="0" anchor="ctr"/>
          <a:lstStyle/>
          <a:p>
            <a:pPr marL="0" indent="0">
              <a:buNone/>
            </a:pPr>
            <a:r>
              <a:rPr lang="en-US" sz="2600" b="1" dirty="0">
                <a:solidFill>
                  <a:srgbClr val="1F3B57"/>
                </a:solidFill>
                <a:latin typeface="Calibri" pitchFamily="34" charset="0"/>
                <a:ea typeface="Calibri" pitchFamily="34" charset="-122"/>
                <a:cs typeface="Calibri" pitchFamily="34" charset="-120"/>
              </a:rPr>
              <a:t>User Interface — main.py</a:t>
            </a:r>
            <a:endParaRPr lang="en-US" sz="2600" dirty="0"/>
          </a:p>
        </p:txBody>
      </p:sp>
      <p:pic>
        <p:nvPicPr>
          <p:cNvPr id="22" name="Picture 21" descr="Screenshot 2026-07-14 090422"/>
          <p:cNvPicPr>
            <a:picLocks noChangeAspect="1"/>
          </p:cNvPicPr>
          <p:nvPr/>
        </p:nvPicPr>
        <p:blipFill>
          <a:blip r:embed="rId2"/>
          <a:srcRect r="19247"/>
          <a:stretch>
            <a:fillRect/>
          </a:stretch>
        </p:blipFill>
        <p:spPr>
          <a:xfrm>
            <a:off x="768985" y="2389505"/>
            <a:ext cx="2696845" cy="3976370"/>
          </a:xfrm>
          <a:prstGeom prst="rect">
            <a:avLst/>
          </a:prstGeom>
        </p:spPr>
      </p:pic>
      <p:pic>
        <p:nvPicPr>
          <p:cNvPr id="5" name="Picture 4" descr="Screenshot 2026-07-14 090437"/>
          <p:cNvPicPr>
            <a:picLocks noChangeAspect="1"/>
          </p:cNvPicPr>
          <p:nvPr/>
        </p:nvPicPr>
        <p:blipFill>
          <a:blip r:embed="rId3"/>
          <a:srcRect r="12513"/>
          <a:stretch>
            <a:fillRect/>
          </a:stretch>
        </p:blipFill>
        <p:spPr>
          <a:xfrm>
            <a:off x="4138930" y="2438400"/>
            <a:ext cx="2900045" cy="3977005"/>
          </a:xfrm>
          <a:prstGeom prst="rect">
            <a:avLst/>
          </a:prstGeom>
        </p:spPr>
      </p:pic>
      <p:pic>
        <p:nvPicPr>
          <p:cNvPr id="23" name="Picture 22" descr="PHOTO-2026-07-14-12-03-33"/>
          <p:cNvPicPr>
            <a:picLocks noChangeAspect="1"/>
          </p:cNvPicPr>
          <p:nvPr/>
        </p:nvPicPr>
        <p:blipFill>
          <a:blip r:embed="rId4"/>
          <a:stretch>
            <a:fillRect/>
          </a:stretch>
        </p:blipFill>
        <p:spPr>
          <a:xfrm>
            <a:off x="7873365" y="2438400"/>
            <a:ext cx="3343910" cy="39763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p:spPr>
        <p:txBody>
          <a:bodyPr wrap="square" rtlCol="0" anchor="ctr"/>
          <a:lstStyle/>
          <a:p>
            <a:pPr marL="0" indent="0">
              <a:buNone/>
            </a:pPr>
            <a:r>
              <a:rPr lang="en-US" sz="2600" b="1" dirty="0">
                <a:solidFill>
                  <a:srgbClr val="1F3B57"/>
                </a:solidFill>
                <a:latin typeface="Calibri" pitchFamily="34" charset="0"/>
                <a:ea typeface="Calibri" pitchFamily="34" charset="-122"/>
                <a:cs typeface="Calibri" pitchFamily="34" charset="-120"/>
              </a:rPr>
              <a:t>Class Structure — models.py</a:t>
            </a:r>
            <a:endParaRPr lang="en-US" sz="2600" dirty="0"/>
          </a:p>
        </p:txBody>
      </p:sp>
      <p:sp>
        <p:nvSpPr>
          <p:cNvPr id="4" name="Text 2"/>
          <p:cNvSpPr/>
          <p:nvPr/>
        </p:nvSpPr>
        <p:spPr>
          <a:xfrm>
            <a:off x="640080" y="1057910"/>
            <a:ext cx="3749040" cy="1203325"/>
          </a:xfrm>
          <a:prstGeom prst="rect">
            <a:avLst/>
          </a:prstGeom>
          <a:noFill/>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Defines the User base class plus the Librarian and Student subclasses. Custom exceptions (AuthenticationError, BookNotFoundError, DuplicateBookError, MemberNotFoundError) give clear, specific error handling.</a:t>
            </a:r>
            <a:endParaRPr lang="en-US" sz="1300" dirty="0"/>
          </a:p>
        </p:txBody>
      </p:sp>
      <p:pic>
        <p:nvPicPr>
          <p:cNvPr id="5" name="Image 0" descr="/home/claude/screenshots/unpacked/word/media/image19.png"/>
          <p:cNvPicPr>
            <a:picLocks noChangeAspect="1"/>
          </p:cNvPicPr>
          <p:nvPr/>
        </p:nvPicPr>
        <p:blipFill>
          <a:blip r:embed="rId3"/>
          <a:stretch>
            <a:fillRect/>
          </a:stretch>
        </p:blipFill>
        <p:spPr>
          <a:xfrm>
            <a:off x="11654790" y="1417320"/>
            <a:ext cx="49530" cy="50087"/>
          </a:xfrm>
          <a:prstGeom prst="rect">
            <a:avLst/>
          </a:prstGeom>
        </p:spPr>
      </p:pic>
      <p:pic>
        <p:nvPicPr>
          <p:cNvPr id="20" name="Picture 19" descr="Screenshot 2026-07-14 090314"/>
          <p:cNvPicPr>
            <a:picLocks noChangeAspect="1"/>
          </p:cNvPicPr>
          <p:nvPr/>
        </p:nvPicPr>
        <p:blipFill>
          <a:blip r:embed="rId4"/>
          <a:stretch>
            <a:fillRect/>
          </a:stretch>
        </p:blipFill>
        <p:spPr>
          <a:xfrm>
            <a:off x="640080" y="2261235"/>
            <a:ext cx="3060065" cy="3947795"/>
          </a:xfrm>
          <a:prstGeom prst="rect">
            <a:avLst/>
          </a:prstGeom>
        </p:spPr>
      </p:pic>
      <p:pic>
        <p:nvPicPr>
          <p:cNvPr id="21" name="Picture 20" descr="Screenshot 2026-07-14 090335"/>
          <p:cNvPicPr>
            <a:picLocks noChangeAspect="1"/>
          </p:cNvPicPr>
          <p:nvPr/>
        </p:nvPicPr>
        <p:blipFill>
          <a:blip r:embed="rId5"/>
          <a:stretch>
            <a:fillRect/>
          </a:stretch>
        </p:blipFill>
        <p:spPr>
          <a:xfrm>
            <a:off x="4253230" y="2298700"/>
            <a:ext cx="3427095" cy="3909695"/>
          </a:xfrm>
          <a:prstGeom prst="rect">
            <a:avLst/>
          </a:prstGeom>
        </p:spPr>
      </p:pic>
      <p:pic>
        <p:nvPicPr>
          <p:cNvPr id="22" name="Picture 21" descr="Screenshot 2026-07-14 090352"/>
          <p:cNvPicPr>
            <a:picLocks noChangeAspect="1"/>
          </p:cNvPicPr>
          <p:nvPr/>
        </p:nvPicPr>
        <p:blipFill>
          <a:blip r:embed="rId6"/>
          <a:stretch>
            <a:fillRect/>
          </a:stretch>
        </p:blipFill>
        <p:spPr>
          <a:xfrm>
            <a:off x="8232775" y="2278380"/>
            <a:ext cx="3060065" cy="3981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548640"/>
          </a:xfrm>
          <a:prstGeom prst="rect">
            <a:avLst/>
          </a:prstGeom>
          <a:noFill/>
        </p:spPr>
        <p:txBody>
          <a:bodyPr wrap="square" rtlCol="0" anchor="ctr"/>
          <a:lstStyle/>
          <a:p>
            <a:pPr marL="0" indent="0">
              <a:buNone/>
            </a:pPr>
            <a:r>
              <a:rPr lang="en-US" sz="2600" b="1" dirty="0">
                <a:solidFill>
                  <a:srgbClr val="1F3B57"/>
                </a:solidFill>
                <a:latin typeface="Calibri" pitchFamily="34" charset="0"/>
                <a:ea typeface="Calibri" pitchFamily="34" charset="-122"/>
                <a:cs typeface="Calibri" pitchFamily="34" charset="-120"/>
              </a:rPr>
              <a:t>Data Layer — data_io.py</a:t>
            </a:r>
            <a:endParaRPr lang="en-US" sz="2600" dirty="0"/>
          </a:p>
        </p:txBody>
      </p:sp>
      <p:sp>
        <p:nvSpPr>
          <p:cNvPr id="4" name="Text 2"/>
          <p:cNvSpPr/>
          <p:nvPr/>
        </p:nvSpPr>
        <p:spPr>
          <a:xfrm>
            <a:off x="640080" y="1092200"/>
            <a:ext cx="3749040" cy="1016000"/>
          </a:xfrm>
          <a:prstGeom prst="rect">
            <a:avLst/>
          </a:prstGeom>
          <a:noFill/>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Every load/save function for the four text files lives here. Each load function wraps file access in try/except, so a missing file starts the program with an empty list instead of crashing.</a:t>
            </a:r>
            <a:endParaRPr lang="en-US" sz="1300" dirty="0"/>
          </a:p>
        </p:txBody>
      </p:sp>
      <p:pic>
        <p:nvPicPr>
          <p:cNvPr id="5" name="Image 0" descr="/home/claude/screenshots/unpacked/word/media/image10.png"/>
          <p:cNvPicPr>
            <a:picLocks noChangeAspect="1"/>
          </p:cNvPicPr>
          <p:nvPr/>
        </p:nvPicPr>
        <p:blipFill>
          <a:blip r:embed="rId3"/>
          <a:stretch>
            <a:fillRect/>
          </a:stretch>
        </p:blipFill>
        <p:spPr>
          <a:xfrm>
            <a:off x="11659384" y="1417320"/>
            <a:ext cx="44936" cy="53340"/>
          </a:xfrm>
          <a:prstGeom prst="rect">
            <a:avLst/>
          </a:prstGeom>
        </p:spPr>
      </p:pic>
      <p:pic>
        <p:nvPicPr>
          <p:cNvPr id="23" name="Picture 22" descr="Screenshot 2026-07-14 090212"/>
          <p:cNvPicPr>
            <a:picLocks noChangeAspect="1"/>
          </p:cNvPicPr>
          <p:nvPr/>
        </p:nvPicPr>
        <p:blipFill>
          <a:blip r:embed="rId3"/>
          <a:stretch>
            <a:fillRect/>
          </a:stretch>
        </p:blipFill>
        <p:spPr>
          <a:xfrm>
            <a:off x="640080" y="2185670"/>
            <a:ext cx="3334385" cy="3957955"/>
          </a:xfrm>
          <a:prstGeom prst="rect">
            <a:avLst/>
          </a:prstGeom>
        </p:spPr>
      </p:pic>
      <p:pic>
        <p:nvPicPr>
          <p:cNvPr id="24" name="Picture 23" descr="Screenshot 2026-07-14 090226"/>
          <p:cNvPicPr>
            <a:picLocks noChangeAspect="1"/>
          </p:cNvPicPr>
          <p:nvPr/>
        </p:nvPicPr>
        <p:blipFill>
          <a:blip r:embed="rId4"/>
          <a:stretch>
            <a:fillRect/>
          </a:stretch>
        </p:blipFill>
        <p:spPr>
          <a:xfrm>
            <a:off x="4853305" y="2185670"/>
            <a:ext cx="2964815" cy="3982085"/>
          </a:xfrm>
          <a:prstGeom prst="rect">
            <a:avLst/>
          </a:prstGeom>
        </p:spPr>
      </p:pic>
      <p:pic>
        <p:nvPicPr>
          <p:cNvPr id="25" name="Picture 24" descr="Screenshot 2026-07-14 090258"/>
          <p:cNvPicPr>
            <a:picLocks noChangeAspect="1"/>
          </p:cNvPicPr>
          <p:nvPr/>
        </p:nvPicPr>
        <p:blipFill>
          <a:blip r:embed="rId5"/>
          <a:stretch>
            <a:fillRect/>
          </a:stretch>
        </p:blipFill>
        <p:spPr>
          <a:xfrm>
            <a:off x="8435975" y="2261235"/>
            <a:ext cx="2867025" cy="3771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640080"/>
          </a:xfrm>
          <a:prstGeom prst="rect">
            <a:avLst/>
          </a:prstGeom>
          <a:noFill/>
        </p:spPr>
        <p:txBody>
          <a:bodyPr wrap="square" rtlCol="0" anchor="ctr"/>
          <a:lstStyle/>
          <a:p>
            <a:pPr marL="0" indent="0">
              <a:buNone/>
            </a:pPr>
            <a:r>
              <a:rPr lang="en-US" sz="2600" b="1" dirty="0">
                <a:solidFill>
                  <a:srgbClr val="1F3B57"/>
                </a:solidFill>
                <a:latin typeface="Calibri" pitchFamily="34" charset="0"/>
                <a:ea typeface="Calibri" pitchFamily="34" charset="-122"/>
                <a:cs typeface="Calibri" pitchFamily="34" charset="-120"/>
              </a:rPr>
              <a:t>Testing — Librarian Login</a:t>
            </a:r>
            <a:endParaRPr lang="en-US" sz="2600" dirty="0"/>
          </a:p>
        </p:txBody>
      </p:sp>
      <p:sp>
        <p:nvSpPr>
          <p:cNvPr id="3" name="Text 1"/>
          <p:cNvSpPr/>
          <p:nvPr/>
        </p:nvSpPr>
        <p:spPr>
          <a:xfrm>
            <a:off x="640080" y="1005840"/>
            <a:ext cx="10972800" cy="548640"/>
          </a:xfrm>
          <a:prstGeom prst="rect">
            <a:avLst/>
          </a:prstGeom>
          <a:noFill/>
        </p:spPr>
        <p:txBody>
          <a:bodyPr wrap="square" rtlCol="0" anchor="ctr"/>
          <a:lstStyle/>
          <a:p>
            <a:pPr marL="0" indent="0">
              <a:buNone/>
            </a:pPr>
            <a:r>
              <a:rPr lang="en-US" sz="1400" dirty="0">
                <a:solidFill>
                  <a:srgbClr val="555555"/>
                </a:solidFill>
                <a:latin typeface="Calibri" pitchFamily="34" charset="0"/>
                <a:ea typeface="Calibri" pitchFamily="34" charset="-122"/>
                <a:cs typeface="Calibri" pitchFamily="34" charset="-120"/>
              </a:rPr>
              <a:t>Login as manshi / librarian123 correctly routes to the Librarian menu.</a:t>
            </a:r>
            <a:endParaRPr lang="en-US" sz="1400" dirty="0"/>
          </a:p>
        </p:txBody>
      </p:sp>
      <p:pic>
        <p:nvPicPr>
          <p:cNvPr id="4" name="Image 0" descr="/home/claude/screenshots/unpacked/word/media/image1.png"/>
          <p:cNvPicPr>
            <a:picLocks noChangeAspect="1"/>
          </p:cNvPicPr>
          <p:nvPr/>
        </p:nvPicPr>
        <p:blipFill>
          <a:blip r:embed="rId3"/>
          <a:stretch>
            <a:fillRect/>
          </a:stretch>
        </p:blipFill>
        <p:spPr>
          <a:xfrm>
            <a:off x="6053995" y="1691640"/>
            <a:ext cx="80963" cy="51178"/>
          </a:xfrm>
          <a:prstGeom prst="rect">
            <a:avLst/>
          </a:prstGeom>
        </p:spPr>
      </p:pic>
      <p:pic>
        <p:nvPicPr>
          <p:cNvPr id="9" name="Picture 8" descr="Screenshot 2026-07-14 083450"/>
          <p:cNvPicPr>
            <a:picLocks noChangeAspect="1"/>
          </p:cNvPicPr>
          <p:nvPr/>
        </p:nvPicPr>
        <p:blipFill>
          <a:blip r:embed="rId4"/>
          <a:srcRect b="61048"/>
          <a:stretch>
            <a:fillRect/>
          </a:stretch>
        </p:blipFill>
        <p:spPr>
          <a:xfrm>
            <a:off x="640080" y="2112010"/>
            <a:ext cx="9406890" cy="29216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640080"/>
          </a:xfrm>
          <a:prstGeom prst="rect">
            <a:avLst/>
          </a:prstGeom>
          <a:noFill/>
        </p:spPr>
        <p:txBody>
          <a:bodyPr wrap="square" rtlCol="0" anchor="ctr"/>
          <a:lstStyle/>
          <a:p>
            <a:pPr marL="0" indent="0">
              <a:buNone/>
            </a:pPr>
            <a:r>
              <a:rPr lang="en-US" sz="2600" b="1" dirty="0">
                <a:solidFill>
                  <a:srgbClr val="1F3B57"/>
                </a:solidFill>
                <a:latin typeface="Calibri" pitchFamily="34" charset="0"/>
                <a:ea typeface="Calibri" pitchFamily="34" charset="-122"/>
                <a:cs typeface="Calibri" pitchFamily="34" charset="-120"/>
              </a:rPr>
              <a:t>Testing — Failed Login Handling</a:t>
            </a:r>
            <a:endParaRPr lang="en-US" sz="2600" dirty="0"/>
          </a:p>
        </p:txBody>
      </p:sp>
      <p:sp>
        <p:nvSpPr>
          <p:cNvPr id="3" name="Text 1"/>
          <p:cNvSpPr/>
          <p:nvPr/>
        </p:nvSpPr>
        <p:spPr>
          <a:xfrm>
            <a:off x="640080" y="1005840"/>
            <a:ext cx="10972800" cy="548640"/>
          </a:xfrm>
          <a:prstGeom prst="rect">
            <a:avLst/>
          </a:prstGeom>
          <a:noFill/>
        </p:spPr>
        <p:txBody>
          <a:bodyPr wrap="square" rtlCol="0" anchor="ctr"/>
          <a:lstStyle/>
          <a:p>
            <a:pPr marL="0" indent="0">
              <a:buNone/>
            </a:pPr>
            <a:r>
              <a:rPr lang="en-US" sz="1400" dirty="0">
                <a:solidFill>
                  <a:srgbClr val="555555"/>
                </a:solidFill>
                <a:latin typeface="Calibri" pitchFamily="34" charset="0"/>
                <a:ea typeface="Calibri" pitchFamily="34" charset="-122"/>
                <a:cs typeface="Calibri" pitchFamily="34" charset="-120"/>
              </a:rPr>
              <a:t>An incorrect password is caught and reported without crashing the program, with retries remaining shown.</a:t>
            </a:r>
            <a:endParaRPr lang="en-US" sz="1400" dirty="0"/>
          </a:p>
        </p:txBody>
      </p:sp>
      <p:pic>
        <p:nvPicPr>
          <p:cNvPr id="6" name="Picture 5" descr="Screenshot 2026-07-14 at 11.30.41 AM"/>
          <p:cNvPicPr>
            <a:picLocks noChangeAspect="1"/>
          </p:cNvPicPr>
          <p:nvPr/>
        </p:nvPicPr>
        <p:blipFill>
          <a:blip r:embed="rId3"/>
          <a:stretch>
            <a:fillRect/>
          </a:stretch>
        </p:blipFill>
        <p:spPr>
          <a:xfrm>
            <a:off x="753745" y="1906905"/>
            <a:ext cx="7568565" cy="38207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640080"/>
          </a:xfrm>
          <a:prstGeom prst="rect">
            <a:avLst/>
          </a:prstGeom>
          <a:noFill/>
        </p:spPr>
        <p:txBody>
          <a:bodyPr wrap="square" rtlCol="0" anchor="ctr"/>
          <a:lstStyle/>
          <a:p>
            <a:pPr marL="0" indent="0">
              <a:buNone/>
            </a:pPr>
            <a:r>
              <a:rPr lang="en-US" sz="2600" b="1" dirty="0">
                <a:solidFill>
                  <a:srgbClr val="1F3B57"/>
                </a:solidFill>
                <a:latin typeface="Calibri" pitchFamily="34" charset="0"/>
                <a:ea typeface="Calibri" pitchFamily="34" charset="-122"/>
                <a:cs typeface="Calibri" pitchFamily="34" charset="-120"/>
              </a:rPr>
              <a:t>Testing — Student Session</a:t>
            </a:r>
            <a:endParaRPr lang="en-US" sz="2600" dirty="0"/>
          </a:p>
        </p:txBody>
      </p:sp>
      <p:sp>
        <p:nvSpPr>
          <p:cNvPr id="3" name="Text 1"/>
          <p:cNvSpPr/>
          <p:nvPr/>
        </p:nvSpPr>
        <p:spPr>
          <a:xfrm>
            <a:off x="640080" y="1005840"/>
            <a:ext cx="10972800" cy="548640"/>
          </a:xfrm>
          <a:prstGeom prst="rect">
            <a:avLst/>
          </a:prstGeom>
          <a:noFill/>
        </p:spPr>
        <p:txBody>
          <a:bodyPr wrap="square" rtlCol="0" anchor="ctr"/>
          <a:lstStyle/>
          <a:p>
            <a:pPr marL="0" indent="0">
              <a:buNone/>
            </a:pPr>
            <a:r>
              <a:rPr lang="en-US" sz="1400" dirty="0">
                <a:solidFill>
                  <a:srgbClr val="555555"/>
                </a:solidFill>
                <a:latin typeface="Calibri" pitchFamily="34" charset="0"/>
                <a:ea typeface="Calibri" pitchFamily="34" charset="-122"/>
                <a:cs typeface="Calibri" pitchFamily="34" charset="-120"/>
              </a:rPr>
              <a:t>Search, view loans, update profile, and logout all working correctly for the sumant account.</a:t>
            </a:r>
            <a:endParaRPr lang="en-US" sz="1400" dirty="0"/>
          </a:p>
        </p:txBody>
      </p:sp>
      <p:pic>
        <p:nvPicPr>
          <p:cNvPr id="4" name="Image 0" descr="/home/claude/screenshots/unpacked/word/media/image3.png"/>
          <p:cNvPicPr>
            <a:picLocks noChangeAspect="1"/>
          </p:cNvPicPr>
          <p:nvPr/>
        </p:nvPicPr>
        <p:blipFill>
          <a:blip r:embed="rId3"/>
          <a:stretch>
            <a:fillRect/>
          </a:stretch>
        </p:blipFill>
        <p:spPr>
          <a:xfrm>
            <a:off x="6069498" y="1691640"/>
            <a:ext cx="49957" cy="51435"/>
          </a:xfrm>
          <a:prstGeom prst="rect">
            <a:avLst/>
          </a:prstGeom>
        </p:spPr>
      </p:pic>
      <p:pic>
        <p:nvPicPr>
          <p:cNvPr id="7" name="Picture 6" descr="Screenshot 2026-07-14 083903"/>
          <p:cNvPicPr>
            <a:picLocks noChangeAspect="1"/>
          </p:cNvPicPr>
          <p:nvPr/>
        </p:nvPicPr>
        <p:blipFill>
          <a:blip r:embed="rId4"/>
          <a:stretch>
            <a:fillRect/>
          </a:stretch>
        </p:blipFill>
        <p:spPr>
          <a:xfrm>
            <a:off x="796925" y="1880235"/>
            <a:ext cx="6140450" cy="3938270"/>
          </a:xfrm>
          <a:prstGeom prst="rect">
            <a:avLst/>
          </a:prstGeom>
        </p:spPr>
      </p:pic>
      <p:pic>
        <p:nvPicPr>
          <p:cNvPr id="8" name="Picture 7" descr="Screenshot 2026-07-14 084208"/>
          <p:cNvPicPr>
            <a:picLocks noChangeAspect="1"/>
          </p:cNvPicPr>
          <p:nvPr/>
        </p:nvPicPr>
        <p:blipFill>
          <a:blip r:embed="rId3"/>
          <a:srcRect r="36101" b="50613"/>
          <a:stretch>
            <a:fillRect/>
          </a:stretch>
        </p:blipFill>
        <p:spPr>
          <a:xfrm>
            <a:off x="7892415" y="1554480"/>
            <a:ext cx="3406140" cy="2710180"/>
          </a:xfrm>
          <a:prstGeom prst="rect">
            <a:avLst/>
          </a:prstGeom>
        </p:spPr>
      </p:pic>
      <p:pic>
        <p:nvPicPr>
          <p:cNvPr id="11" name="Picture 10" descr="Screenshot 2026-07-14 084208"/>
          <p:cNvPicPr>
            <a:picLocks noChangeAspect="1"/>
          </p:cNvPicPr>
          <p:nvPr/>
        </p:nvPicPr>
        <p:blipFill>
          <a:blip r:embed="rId3"/>
          <a:srcRect t="50121" r="36101" b="9943"/>
          <a:stretch>
            <a:fillRect/>
          </a:stretch>
        </p:blipFill>
        <p:spPr>
          <a:xfrm>
            <a:off x="7892415" y="4317365"/>
            <a:ext cx="3382010" cy="21761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640080"/>
          </a:xfrm>
          <a:prstGeom prst="rect">
            <a:avLst/>
          </a:prstGeom>
          <a:noFill/>
        </p:spPr>
        <p:txBody>
          <a:bodyPr wrap="square" rtlCol="0" anchor="ctr"/>
          <a:lstStyle/>
          <a:p>
            <a:pPr marL="0" indent="0">
              <a:buNone/>
            </a:pPr>
            <a:r>
              <a:rPr lang="en-US" sz="2600" b="1" dirty="0">
                <a:solidFill>
                  <a:srgbClr val="1F3B57"/>
                </a:solidFill>
                <a:latin typeface="Calibri" pitchFamily="34" charset="0"/>
                <a:ea typeface="Calibri" pitchFamily="34" charset="-122"/>
                <a:cs typeface="Calibri" pitchFamily="34" charset="-120"/>
              </a:rPr>
              <a:t>Testing — Librarian</a:t>
            </a:r>
            <a:endParaRPr lang="en-US" sz="2600" dirty="0"/>
          </a:p>
        </p:txBody>
      </p:sp>
      <p:sp>
        <p:nvSpPr>
          <p:cNvPr id="3" name="Text 1"/>
          <p:cNvSpPr/>
          <p:nvPr/>
        </p:nvSpPr>
        <p:spPr>
          <a:xfrm>
            <a:off x="640080" y="1005840"/>
            <a:ext cx="10972800" cy="548640"/>
          </a:xfrm>
          <a:prstGeom prst="rect">
            <a:avLst/>
          </a:prstGeom>
          <a:noFill/>
        </p:spPr>
        <p:txBody>
          <a:bodyPr wrap="square" rtlCol="0" anchor="ctr"/>
          <a:lstStyle/>
          <a:p>
            <a:pPr marL="0" indent="0">
              <a:buNone/>
            </a:pPr>
            <a:r>
              <a:rPr lang="en-US" sz="1400" dirty="0"/>
              <a:t>Adding book, removing book and updating member record</a:t>
            </a:r>
          </a:p>
        </p:txBody>
      </p:sp>
      <p:pic>
        <p:nvPicPr>
          <p:cNvPr id="6" name="Picture 5" descr="Screenshot 2026-07-14 083450"/>
          <p:cNvPicPr>
            <a:picLocks noChangeAspect="1"/>
          </p:cNvPicPr>
          <p:nvPr/>
        </p:nvPicPr>
        <p:blipFill>
          <a:blip r:embed="rId3"/>
          <a:srcRect t="39015" r="15169"/>
          <a:stretch>
            <a:fillRect/>
          </a:stretch>
        </p:blipFill>
        <p:spPr>
          <a:xfrm>
            <a:off x="754380" y="2549525"/>
            <a:ext cx="5426075" cy="3110230"/>
          </a:xfrm>
          <a:prstGeom prst="rect">
            <a:avLst/>
          </a:prstGeom>
        </p:spPr>
      </p:pic>
      <p:pic>
        <p:nvPicPr>
          <p:cNvPr id="7" name="Picture 6" descr="Screenshot 2026-07-14 083546"/>
          <p:cNvPicPr>
            <a:picLocks noChangeAspect="1"/>
          </p:cNvPicPr>
          <p:nvPr/>
        </p:nvPicPr>
        <p:blipFill>
          <a:blip r:embed="rId4"/>
          <a:stretch>
            <a:fillRect/>
          </a:stretch>
        </p:blipFill>
        <p:spPr>
          <a:xfrm>
            <a:off x="6579235" y="1743075"/>
            <a:ext cx="4772025" cy="2206625"/>
          </a:xfrm>
          <a:prstGeom prst="rect">
            <a:avLst/>
          </a:prstGeom>
        </p:spPr>
      </p:pic>
      <p:pic>
        <p:nvPicPr>
          <p:cNvPr id="8" name="Picture 7" descr="Screenshot 2026-07-14 083651"/>
          <p:cNvPicPr>
            <a:picLocks noChangeAspect="1"/>
          </p:cNvPicPr>
          <p:nvPr/>
        </p:nvPicPr>
        <p:blipFill>
          <a:blip r:embed="rId5"/>
          <a:stretch>
            <a:fillRect/>
          </a:stretch>
        </p:blipFill>
        <p:spPr>
          <a:xfrm>
            <a:off x="6579235" y="4125595"/>
            <a:ext cx="4772025" cy="22580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3B57"/>
        </a:solidFill>
        <a:effectLst/>
      </p:bgPr>
    </p:bg>
    <p:spTree>
      <p:nvGrpSpPr>
        <p:cNvPr id="1" name=""/>
        <p:cNvGrpSpPr/>
        <p:nvPr/>
      </p:nvGrpSpPr>
      <p:grpSpPr>
        <a:xfrm>
          <a:off x="0" y="0"/>
          <a:ext cx="0" cy="0"/>
          <a:chOff x="0" y="0"/>
          <a:chExt cx="0" cy="0"/>
        </a:xfrm>
      </p:grpSpPr>
      <p:sp>
        <p:nvSpPr>
          <p:cNvPr id="2" name="Text 0"/>
          <p:cNvSpPr/>
          <p:nvPr/>
        </p:nvSpPr>
        <p:spPr>
          <a:xfrm>
            <a:off x="731520" y="822960"/>
            <a:ext cx="10698480" cy="822960"/>
          </a:xfrm>
          <a:prstGeom prst="rect">
            <a:avLst/>
          </a:prstGeom>
          <a:noFill/>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3" name="Shape 1"/>
          <p:cNvSpPr/>
          <p:nvPr/>
        </p:nvSpPr>
        <p:spPr>
          <a:xfrm>
            <a:off x="822960" y="2039112"/>
            <a:ext cx="128016" cy="128016"/>
          </a:xfrm>
          <a:prstGeom prst="ellipse">
            <a:avLst/>
          </a:prstGeom>
          <a:solidFill>
            <a:srgbClr val="C97A2B"/>
          </a:solidFill>
        </p:spPr>
      </p:sp>
      <p:sp>
        <p:nvSpPr>
          <p:cNvPr id="4" name="Text 2"/>
          <p:cNvSpPr/>
          <p:nvPr/>
        </p:nvSpPr>
        <p:spPr>
          <a:xfrm>
            <a:off x="1188720" y="1748790"/>
            <a:ext cx="9875520" cy="640080"/>
          </a:xfrm>
          <a:prstGeom prst="rect">
            <a:avLst/>
          </a:prstGeom>
          <a:noFill/>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All four data files implemented with full read/write persistence.</a:t>
            </a:r>
            <a:endParaRPr lang="en-US" sz="1600" dirty="0"/>
          </a:p>
        </p:txBody>
      </p:sp>
      <p:sp>
        <p:nvSpPr>
          <p:cNvPr id="5" name="Shape 3"/>
          <p:cNvSpPr/>
          <p:nvPr/>
        </p:nvSpPr>
        <p:spPr>
          <a:xfrm>
            <a:off x="822960" y="2907792"/>
            <a:ext cx="128016" cy="128016"/>
          </a:xfrm>
          <a:prstGeom prst="ellipse">
            <a:avLst/>
          </a:prstGeom>
          <a:solidFill>
            <a:srgbClr val="C97A2B"/>
          </a:solidFill>
        </p:spPr>
      </p:sp>
      <p:sp>
        <p:nvSpPr>
          <p:cNvPr id="6" name="Text 4"/>
          <p:cNvSpPr/>
          <p:nvPr/>
        </p:nvSpPr>
        <p:spPr>
          <a:xfrm>
            <a:off x="1188720" y="2617470"/>
            <a:ext cx="9875520" cy="640080"/>
          </a:xfrm>
          <a:prstGeom prst="rect">
            <a:avLst/>
          </a:prstGeom>
          <a:noFill/>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Librarian and Student roles fully functional and tested end to end.</a:t>
            </a:r>
            <a:endParaRPr lang="en-US" sz="1600" dirty="0"/>
          </a:p>
        </p:txBody>
      </p:sp>
      <p:sp>
        <p:nvSpPr>
          <p:cNvPr id="7" name="Shape 5"/>
          <p:cNvSpPr/>
          <p:nvPr/>
        </p:nvSpPr>
        <p:spPr>
          <a:xfrm>
            <a:off x="822960" y="3776472"/>
            <a:ext cx="128016" cy="128016"/>
          </a:xfrm>
          <a:prstGeom prst="ellipse">
            <a:avLst/>
          </a:prstGeom>
          <a:solidFill>
            <a:srgbClr val="C97A2B"/>
          </a:solidFill>
        </p:spPr>
      </p:sp>
      <p:sp>
        <p:nvSpPr>
          <p:cNvPr id="8" name="Text 6"/>
          <p:cNvSpPr/>
          <p:nvPr/>
        </p:nvSpPr>
        <p:spPr>
          <a:xfrm>
            <a:off x="1188720" y="3486150"/>
            <a:ext cx="9875520" cy="640080"/>
          </a:xfrm>
          <a:prstGeom prst="rect">
            <a:avLst/>
          </a:prstGeom>
          <a:noFill/>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OOP design (User base class + Librarian/Student subclasses) avoids duplicated logic.</a:t>
            </a:r>
            <a:endParaRPr lang="en-US" sz="1600" dirty="0"/>
          </a:p>
        </p:txBody>
      </p:sp>
      <p:sp>
        <p:nvSpPr>
          <p:cNvPr id="9" name="Shape 7"/>
          <p:cNvSpPr/>
          <p:nvPr/>
        </p:nvSpPr>
        <p:spPr>
          <a:xfrm>
            <a:off x="822960" y="4645152"/>
            <a:ext cx="128016" cy="128016"/>
          </a:xfrm>
          <a:prstGeom prst="ellipse">
            <a:avLst/>
          </a:prstGeom>
          <a:solidFill>
            <a:srgbClr val="C97A2B"/>
          </a:solidFill>
        </p:spPr>
      </p:sp>
      <p:sp>
        <p:nvSpPr>
          <p:cNvPr id="10" name="Text 8"/>
          <p:cNvSpPr/>
          <p:nvPr/>
        </p:nvSpPr>
        <p:spPr>
          <a:xfrm>
            <a:off x="1188720" y="4354830"/>
            <a:ext cx="9875520" cy="640080"/>
          </a:xfrm>
          <a:prstGeom prst="rect">
            <a:avLst/>
          </a:prstGeom>
          <a:noFill/>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Exception handling prevents crashes on invalid input or missing data.</a:t>
            </a:r>
            <a:endParaRPr lang="en-US" sz="1600" dirty="0"/>
          </a:p>
        </p:txBody>
      </p:sp>
      <p:sp>
        <p:nvSpPr>
          <p:cNvPr id="11" name="Text 9"/>
          <p:cNvSpPr/>
          <p:nvPr/>
        </p:nvSpPr>
        <p:spPr>
          <a:xfrm>
            <a:off x="731520" y="5943600"/>
            <a:ext cx="5486400" cy="548640"/>
          </a:xfrm>
          <a:prstGeom prst="rect">
            <a:avLst/>
          </a:prstGeom>
          <a:noFill/>
        </p:spPr>
        <p:txBody>
          <a:bodyPr wrap="square" rtlCol="0" anchor="ctr"/>
          <a:lstStyle/>
          <a:p>
            <a:pPr marL="0" indent="0">
              <a:buNone/>
            </a:pPr>
            <a:r>
              <a:rPr lang="en-US" sz="1800" i="1" dirty="0">
                <a:solidFill>
                  <a:srgbClr val="AFC7DE"/>
                </a:solidFill>
                <a:latin typeface="Calibri" pitchFamily="34" charset="0"/>
                <a:ea typeface="Calibri" pitchFamily="34" charset="-122"/>
                <a:cs typeface="Calibri"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520</Words>
  <Application>Microsoft Office PowerPoint</Application>
  <PresentationFormat>Widescreen</PresentationFormat>
  <Paragraphs>87</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Manshi Sah</cp:lastModifiedBy>
  <cp:revision>5</cp:revision>
  <dcterms:created xsi:type="dcterms:W3CDTF">2026-07-14T06:21:21Z</dcterms:created>
  <dcterms:modified xsi:type="dcterms:W3CDTF">2026-07-24T01:33:37Z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C37BB47F8E5BC794CFC6556A5311E56A_42</vt:lpwstr>
  </property>
</Properties>
</file>